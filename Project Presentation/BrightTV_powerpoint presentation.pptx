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1295C"/>
                </a:solidFill>
                <a:latin typeface="Calibri"/>
              </a:defRPr>
            </a:pPr>
            <a:r>
              <a:rPr sz="1300" b="0" i="0" u="none" strike="noStrike">
                <a:solidFill>
                  <a:srgbClr val="21295C"/>
                </a:solidFill>
                <a:latin typeface="Calibri"/>
              </a:rPr>
              <a:t>Viewing records by month</a:t>
            </a:r>
          </a:p>
        </c:rich>
      </c:tx>
      <c:layout/>
      <c:overlay val="0"/>
    </c:title>
    <c:autoTitleDeleted val="0"/>
    <c:plotArea>
      <c:layout/>
      <c:barChart>
        <c:barDir val="col"/>
        <c:grouping val="clustered"/>
        <c:varyColors val="0"/>
        <c:ser>
          <c:idx val="0"/>
          <c:order val="0"/>
          <c:tx>
            <c:strRef>
              <c:f>Sheet1!$B$1</c:f>
              <c:strCache>
                <c:ptCount val="1"/>
                <c:pt idx="0">
                  <c:v>Viewing records</c:v>
                </c:pt>
              </c:strCache>
            </c:strRef>
          </c:tx>
          <c:spPr>
            <a:solidFill>
              <a:srgbClr val="065A82"/>
            </a:solidFill>
            <a:effectLst/>
          </c:spPr>
          <c:invertIfNegative val="0"/>
          <c:dLbls>
            <c:numFmt formatCode="#,##0" sourceLinked="0"/>
            <c:txPr>
              <a:bodyPr/>
              <a:lstStyle/>
              <a:p>
                <a:pPr>
                  <a:defRPr b="0" i="0" strike="noStrike" sz="1100" u="none">
                    <a:solidFill>
                      <a:srgbClr val="21295C"/>
                    </a:solidFill>
                    <a:latin typeface="Arial"/>
                  </a:defRPr>
                </a:pPr>
              </a:p>
            </c:txPr>
            <c:showLegendKey val="0"/>
            <c:showVal val="1"/>
            <c:showCatName val="0"/>
            <c:showSerName val="0"/>
            <c:showPercent val="0"/>
            <c:showBubbleSize val="0"/>
            <c:showLeaderLines val="0"/>
          </c:dLbls>
          <c:cat>
            <c:multiLvlStrRef>
              <c:f>Sheet1!$A$2:$A$4</c:f>
              <c:multiLvlStrCache>
                <c:ptCount val="3"/>
                <c:lvl>
                  <c:pt idx="0">
                    <c:v>Jan</c:v>
                  </c:pt>
                  <c:pt idx="1">
                    <c:v>Feb</c:v>
                  </c:pt>
                  <c:pt idx="2">
                    <c:v>Mar</c:v>
                  </c:pt>
                </c:lvl>
              </c:multiLvlStrCache>
            </c:multiLvlStrRef>
          </c:cat>
          <c:val>
            <c:numRef>
              <c:f>Sheet1!$B$2:$B$4</c:f>
              <c:numCache>
                <c:formatCode>General</c:formatCode>
                <c:ptCount val="3"/>
                <c:pt idx="0">
                  <c:v>2199</c:v>
                </c:pt>
                <c:pt idx="1">
                  <c:v>2970</c:v>
                </c:pt>
                <c:pt idx="2">
                  <c:v>4814</c:v>
                </c:pt>
              </c:numCache>
            </c:numRef>
          </c:val>
        </c:ser>
        <c:dLbls>
          <c:numFmt formatCode="#,##0" sourceLinked="0"/>
          <c:txPr>
            <a:bodyPr/>
            <a:lstStyle/>
            <a:p>
              <a:pPr>
                <a:defRPr b="0" i="0" strike="noStrike" sz="1100" u="none">
                  <a:solidFill>
                    <a:srgbClr val="21295C"/>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686"/>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68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1295C"/>
                </a:solidFill>
                <a:latin typeface="Calibri"/>
              </a:defRPr>
            </a:pPr>
            <a:r>
              <a:rPr sz="1300" b="0" i="0" u="none" strike="noStrike">
                <a:solidFill>
                  <a:srgbClr val="21295C"/>
                </a:solidFill>
                <a:latin typeface="Calibri"/>
              </a:rPr>
              <a:t>Total watch hours by month</a:t>
            </a:r>
          </a:p>
        </c:rich>
      </c:tx>
      <c:layout/>
      <c:overlay val="0"/>
    </c:title>
    <c:autoTitleDeleted val="0"/>
    <c:plotArea>
      <c:layout/>
      <c:barChart>
        <c:barDir val="col"/>
        <c:grouping val="clustered"/>
        <c:varyColors val="0"/>
        <c:ser>
          <c:idx val="0"/>
          <c:order val="0"/>
          <c:tx>
            <c:strRef>
              <c:f>Sheet1!$B$1</c:f>
              <c:strCache>
                <c:ptCount val="1"/>
                <c:pt idx="0">
                  <c:v>Total hours</c:v>
                </c:pt>
              </c:strCache>
            </c:strRef>
          </c:tx>
          <c:spPr>
            <a:solidFill>
              <a:srgbClr val="D8724A"/>
            </a:solidFill>
            <a:effectLst/>
          </c:spPr>
          <c:invertIfNegative val="0"/>
          <c:dLbls>
            <c:numFmt formatCode="#,##0" sourceLinked="0"/>
            <c:txPr>
              <a:bodyPr/>
              <a:lstStyle/>
              <a:p>
                <a:pPr>
                  <a:defRPr b="0" i="0" strike="noStrike" sz="1100" u="none">
                    <a:solidFill>
                      <a:srgbClr val="21295C"/>
                    </a:solidFill>
                    <a:latin typeface="Arial"/>
                  </a:defRPr>
                </a:pPr>
              </a:p>
            </c:txPr>
            <c:showLegendKey val="0"/>
            <c:showVal val="1"/>
            <c:showCatName val="0"/>
            <c:showSerName val="0"/>
            <c:showPercent val="0"/>
            <c:showBubbleSize val="0"/>
            <c:showLeaderLines val="0"/>
          </c:dLbls>
          <c:cat>
            <c:multiLvlStrRef>
              <c:f>Sheet1!$A$2:$A$4</c:f>
              <c:multiLvlStrCache>
                <c:ptCount val="3"/>
                <c:lvl>
                  <c:pt idx="0">
                    <c:v>Jan</c:v>
                  </c:pt>
                  <c:pt idx="1">
                    <c:v>Feb</c:v>
                  </c:pt>
                  <c:pt idx="2">
                    <c:v>Mar</c:v>
                  </c:pt>
                </c:lvl>
              </c:multiLvlStrCache>
            </c:multiLvlStrRef>
          </c:cat>
          <c:val>
            <c:numRef>
              <c:f>Sheet1!$B$2:$B$4</c:f>
              <c:numCache>
                <c:formatCode>General</c:formatCode>
                <c:ptCount val="3"/>
                <c:pt idx="0">
                  <c:v>291.4</c:v>
                </c:pt>
                <c:pt idx="1">
                  <c:v>391.9</c:v>
                </c:pt>
                <c:pt idx="2">
                  <c:v>838.9</c:v>
                </c:pt>
              </c:numCache>
            </c:numRef>
          </c:val>
        </c:ser>
        <c:dLbls>
          <c:numFmt formatCode="#,##0" sourceLinked="0"/>
          <c:txPr>
            <a:bodyPr/>
            <a:lstStyle/>
            <a:p>
              <a:pPr>
                <a:defRPr b="0" i="0" strike="noStrike" sz="1100" u="none">
                  <a:solidFill>
                    <a:srgbClr val="21295C"/>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686"/>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68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1295C"/>
                </a:solidFill>
                <a:latin typeface="Calibri"/>
              </a:defRPr>
            </a:pPr>
            <a:r>
              <a:rPr sz="1300" b="0" i="0" u="none" strike="noStrike">
                <a:solidFill>
                  <a:srgbClr val="21295C"/>
                </a:solidFill>
                <a:latin typeface="Calibri"/>
              </a:rPr>
              <a:t>Top 5 most-watched channels</a:t>
            </a:r>
          </a:p>
        </c:rich>
      </c:tx>
      <c:layout/>
      <c:overlay val="0"/>
    </c:title>
    <c:autoTitleDeleted val="0"/>
    <c:plotArea>
      <c:layout/>
      <c:barChart>
        <c:barDir val="bar"/>
        <c:grouping val="clustered"/>
        <c:varyColors val="0"/>
        <c:ser>
          <c:idx val="0"/>
          <c:order val="0"/>
          <c:tx>
            <c:strRef>
              <c:f>Sheet1!$B$1</c:f>
              <c:strCache>
                <c:ptCount val="1"/>
                <c:pt idx="0">
                  <c:v>Viewing records</c:v>
                </c:pt>
              </c:strCache>
            </c:strRef>
          </c:tx>
          <c:spPr>
            <a:solidFill>
              <a:srgbClr val="065A82"/>
            </a:solidFill>
            <a:effectLst/>
          </c:spPr>
          <c:invertIfNegative val="0"/>
          <c:dLbls>
            <c:numFmt formatCode="#,##0" sourceLinked="0"/>
            <c:txPr>
              <a:bodyPr/>
              <a:lstStyle/>
              <a:p>
                <a:pPr>
                  <a:defRPr b="0" i="0" strike="noStrike" sz="1050" u="none">
                    <a:solidFill>
                      <a:srgbClr val="21295C"/>
                    </a:solidFill>
                    <a:latin typeface="Arial"/>
                  </a:defRPr>
                </a:pPr>
              </a:p>
            </c:txPr>
            <c:showLegendKey val="0"/>
            <c:showVal val="1"/>
            <c:showCatName val="0"/>
            <c:showSerName val="0"/>
            <c:showPercent val="0"/>
            <c:showBubbleSize val="0"/>
            <c:showLeaderLines val="0"/>
          </c:dLbls>
          <c:cat>
            <c:multiLvlStrRef>
              <c:f>Sheet1!$A$2:$A$6</c:f>
              <c:multiLvlStrCache>
                <c:ptCount val="5"/>
                <c:lvl>
                  <c:pt idx="0">
                    <c:v>SuperSport Blitz</c:v>
                  </c:pt>
                  <c:pt idx="1">
                    <c:v>Trace TV</c:v>
                  </c:pt>
                  <c:pt idx="2">
                    <c:v>Channel O</c:v>
                  </c:pt>
                  <c:pt idx="3">
                    <c:v>ICC Cricket World Cup 2011</c:v>
                  </c:pt>
                  <c:pt idx="4">
                    <c:v>Live Events</c:v>
                  </c:pt>
                </c:lvl>
              </c:multiLvlStrCache>
            </c:multiLvlStrRef>
          </c:cat>
          <c:val>
            <c:numRef>
              <c:f>Sheet1!$B$2:$B$6</c:f>
              <c:numCache>
                <c:formatCode>General</c:formatCode>
                <c:ptCount val="5"/>
                <c:pt idx="0">
                  <c:v>896</c:v>
                </c:pt>
                <c:pt idx="1">
                  <c:v>952</c:v>
                </c:pt>
                <c:pt idx="2">
                  <c:v>1048</c:v>
                </c:pt>
                <c:pt idx="3">
                  <c:v>1460</c:v>
                </c:pt>
                <c:pt idx="4">
                  <c:v>1661</c:v>
                </c:pt>
              </c:numCache>
            </c:numRef>
          </c:val>
        </c:ser>
        <c:dLbls>
          <c:numFmt formatCode="#,##0" sourceLinked="0"/>
          <c:txPr>
            <a:bodyPr/>
            <a:lstStyle/>
            <a:p>
              <a:pPr>
                <a:defRPr b="0" i="0" strike="noStrike" sz="1050" u="none">
                  <a:solidFill>
                    <a:srgbClr val="21295C"/>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6B7686"/>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1295C"/>
                </a:solidFill>
                <a:latin typeface="Calibri"/>
              </a:defRPr>
            </a:pPr>
            <a:r>
              <a:rPr sz="1300" b="0" i="0" u="none" strike="noStrike">
                <a:solidFill>
                  <a:srgbClr val="21295C"/>
                </a:solidFill>
                <a:latin typeface="Calibri"/>
              </a:rPr>
              <a:t>Viewing records by time of day</a:t>
            </a:r>
          </a:p>
        </c:rich>
      </c:tx>
      <c:layout/>
      <c:overlay val="0"/>
    </c:title>
    <c:autoTitleDeleted val="0"/>
    <c:plotArea>
      <c:layout/>
      <c:barChart>
        <c:barDir val="col"/>
        <c:grouping val="clustered"/>
        <c:varyColors val="0"/>
        <c:ser>
          <c:idx val="0"/>
          <c:order val="0"/>
          <c:tx>
            <c:strRef>
              <c:f>Sheet1!$B$1</c:f>
              <c:strCache>
                <c:ptCount val="1"/>
                <c:pt idx="0">
                  <c:v>Viewing records</c:v>
                </c:pt>
              </c:strCache>
            </c:strRef>
          </c:tx>
          <c:spPr>
            <a:solidFill>
              <a:srgbClr val="065A82"/>
            </a:solidFill>
            <a:effectLst/>
          </c:spPr>
          <c:invertIfNegative val="0"/>
          <c:dLbls>
            <c:numFmt formatCode="#,##0" sourceLinked="0"/>
            <c:txPr>
              <a:bodyPr/>
              <a:lstStyle/>
              <a:p>
                <a:pPr>
                  <a:defRPr b="0" i="0" strike="noStrike" sz="1100" u="none">
                    <a:solidFill>
                      <a:srgbClr val="21295C"/>
                    </a:solidFill>
                    <a:latin typeface="Arial"/>
                  </a:defRPr>
                </a:pPr>
              </a:p>
            </c:txPr>
            <c:showLegendKey val="0"/>
            <c:showVal val="1"/>
            <c:showCatName val="0"/>
            <c:showSerName val="0"/>
            <c:showPercent val="0"/>
            <c:showBubbleSize val="0"/>
            <c:showLeaderLines val="0"/>
          </c:dLbls>
          <c:cat>
            <c:multiLvlStrRef>
              <c:f>Sheet1!$A$2:$A$6</c:f>
              <c:multiLvlStrCache>
                <c:ptCount val="5"/>
                <c:lvl>
                  <c:pt idx="0">
                    <c:v>Midnight</c:v>
                  </c:pt>
                  <c:pt idx="1">
                    <c:v>Morning</c:v>
                  </c:pt>
                  <c:pt idx="2">
                    <c:v>Afternoon</c:v>
                  </c:pt>
                  <c:pt idx="3">
                    <c:v>Evening</c:v>
                  </c:pt>
                  <c:pt idx="4">
                    <c:v>Night</c:v>
                  </c:pt>
                </c:lvl>
              </c:multiLvlStrCache>
            </c:multiLvlStrRef>
          </c:cat>
          <c:val>
            <c:numRef>
              <c:f>Sheet1!$B$2:$B$6</c:f>
              <c:numCache>
                <c:formatCode>General</c:formatCode>
                <c:ptCount val="5"/>
                <c:pt idx="0">
                  <c:v>754</c:v>
                </c:pt>
                <c:pt idx="1">
                  <c:v>3081</c:v>
                </c:pt>
                <c:pt idx="2">
                  <c:v>3797</c:v>
                </c:pt>
                <c:pt idx="3">
                  <c:v>2068</c:v>
                </c:pt>
                <c:pt idx="4">
                  <c:v>283</c:v>
                </c:pt>
              </c:numCache>
            </c:numRef>
          </c:val>
        </c:ser>
        <c:dLbls>
          <c:numFmt formatCode="#,##0" sourceLinked="0"/>
          <c:txPr>
            <a:bodyPr/>
            <a:lstStyle/>
            <a:p>
              <a:pPr>
                <a:defRPr b="0" i="0" strike="noStrike" sz="1100" u="none">
                  <a:solidFill>
                    <a:srgbClr val="21295C"/>
                  </a:solidFill>
                  <a:latin typeface="Arial"/>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686"/>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1295C"/>
                </a:solidFill>
                <a:latin typeface="Calibri"/>
              </a:defRPr>
            </a:pPr>
            <a:r>
              <a:rPr sz="1300" b="0" i="0" u="none" strike="noStrike">
                <a:solidFill>
                  <a:srgbClr val="21295C"/>
                </a:solidFill>
                <a:latin typeface="Calibri"/>
              </a:rPr>
              <a:t>Weekday vs weekend</a:t>
            </a:r>
          </a:p>
        </c:rich>
      </c:tx>
      <c:layout/>
      <c:overlay val="0"/>
    </c:title>
    <c:autoTitleDeleted val="0"/>
    <c:plotArea>
      <c:layout/>
      <c:pieChart>
        <c:varyColors val="1"/>
        <c:ser>
          <c:idx val="0"/>
          <c:order val="0"/>
          <c:tx>
            <c:strRef>
              <c:f>Sheet1!$B$1</c:f>
              <c:strCache>
                <c:ptCount val="1"/>
                <c:pt idx="0">
                  <c:v>Day type</c:v>
                </c:pt>
              </c:strCache>
            </c:strRef>
          </c:tx>
          <c:spPr>
            <a:solidFill>
              <a:schemeClr val="accent1"/>
            </a:solidFill>
            <a:ln w="9525" cap="flat">
              <a:solidFill>
                <a:srgbClr val="F9F9F9"/>
              </a:solidFill>
              <a:prstDash val="solid"/>
              <a:round/>
            </a:ln>
            <a:effectLst/>
          </c:spPr>
          <c:dPt>
            <c:idx val="0"/>
            <c:bubble3D val="0"/>
            <c:spPr>
              <a:solidFill>
                <a:srgbClr val="065A82"/>
              </a:solidFill>
              <a:effectLst/>
            </c:spPr>
          </c:dPt>
          <c:dPt>
            <c:idx val="1"/>
            <c:bubble3D val="0"/>
            <c:spPr>
              <a:solidFill>
                <a:srgbClr val="1C7293"/>
              </a:solidFill>
              <a:effectLst/>
            </c:spPr>
          </c:dPt>
          <c:dLbls>
            <c:dLbl>
              <c:idx val="0"/>
              <c:numFmt formatCode="0%" sourceLinked="0"/>
              <c:spPr/>
              <c:txPr>
                <a:bodyPr/>
                <a:lstStyle/>
                <a:p>
                  <a:pPr>
                    <a:defRPr sz="1200" b="0" i="0" u="none" strike="noStrike">
                      <a:solidFill>
                        <a:srgbClr val="FFFFFF"/>
                      </a:solidFill>
                      <a:latin typeface="Arial"/>
                    </a:defRPr>
                  </a:pPr>
                </a:p>
              </c:txPr>
              <c:dLblPos val="ctr"/>
              <c:showLegendKey val="0"/>
              <c:showVal val="1"/>
              <c:showCatName val="0"/>
              <c:showSerName val="0"/>
              <c:showPercent val="0"/>
              <c:showBubbleSize val="0"/>
            </c:dLbl>
            <c:dLbl>
              <c:idx val="1"/>
              <c:numFmt formatCode="0%" sourceLinked="0"/>
              <c:spPr/>
              <c:txPr>
                <a:bodyPr/>
                <a:lstStyle/>
                <a:p>
                  <a:pPr>
                    <a:defRPr sz="1200" b="0" i="0" u="none" strike="noStrike">
                      <a:solidFill>
                        <a:srgbClr val="FFFFFF"/>
                      </a:solidFill>
                      <a:latin typeface="Arial"/>
                    </a:defRPr>
                  </a:pPr>
                </a:p>
              </c:txPr>
              <c:dLblPos val="ctr"/>
              <c:showLegendKey val="0"/>
              <c:showVal val="1"/>
              <c:showCatName val="0"/>
              <c:showSerName val="0"/>
              <c:showPercent val="0"/>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weekday</c:v>
                </c:pt>
                <c:pt idx="1">
                  <c:v>weekend</c:v>
                </c:pt>
              </c:strCache>
            </c:strRef>
          </c:cat>
          <c:val>
            <c:numRef>
              <c:f>Sheet1!$B$2:$B$3</c:f>
              <c:numCache>
                <c:ptCount val="2"/>
                <c:pt idx="0">
                  <c:v>6935</c:v>
                </c:pt>
                <c:pt idx="1">
                  <c:v>3048</c:v>
                </c:pt>
              </c:numCache>
            </c:numRef>
          </c:val>
        </c:ser>
        <c:firstSliceAng val="90"/>
      </c:pieChart>
      <c:spPr>
        <a:noFill/>
        <a:ln>
          <a:noFill/>
        </a:ln>
        <a:effectLst/>
      </c:spPr>
    </c:plotArea>
    <c:legend>
      <c:legendPos val="b"/>
      <c:overlay val="0"/>
      <c:txPr>
        <a:bodyPr/>
        <a:lstStyle/>
        <a:p>
          <a:pPr>
            <a:defRPr sz="1100">
              <a:solidFill>
                <a:srgbClr val="6B7686"/>
              </a:solidFil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Viewing records</c:v>
                </c:pt>
              </c:strCache>
            </c:strRef>
          </c:tx>
          <c:spPr>
            <a:solidFill>
              <a:srgbClr val="D8724A"/>
            </a:solidFill>
            <a:ln w="9525" cap="flat">
              <a:solidFill>
                <a:srgbClr val="FFFFFF"/>
              </a:solidFill>
              <a:prstDash val="solid"/>
              <a:round/>
            </a:ln>
            <a:effectLst/>
          </c:spPr>
          <c:invertIfNegative val="0"/>
          <c:dLbls>
            <c:numFmt formatCode="#,##0" sourceLinked="0"/>
            <c:txPr>
              <a:bodyPr/>
              <a:lstStyle/>
              <a:p>
                <a:pPr>
                  <a:defRPr b="0" i="0" strike="noStrike" sz="1200" u="none">
                    <a:solidFill>
                      <a:srgbClr val="21295C"/>
                    </a:solidFill>
                    <a:latin typeface="Arial"/>
                  </a:defRPr>
                </a:pPr>
              </a:p>
            </c:txPr>
            <c:showLegendKey val="0"/>
            <c:showVal val="1"/>
            <c:showCatName val="0"/>
            <c:showSerName val="0"/>
            <c:showPercent val="0"/>
            <c:showBubbleSize val="0"/>
            <c:showLeaderLines val="0"/>
          </c:dLbls>
          <c:dPt>
            <c:idx val="0"/>
            <c:invertIfNegative val="0"/>
            <c:bubble3D val="0"/>
            <c:spPr>
              <a:solidFill>
                <a:srgbClr val="D8724A"/>
              </a:solidFill>
              <a:effectLst/>
            </c:spPr>
          </c:dPt>
          <c:dPt>
            <c:idx val="1"/>
            <c:invertIfNegative val="0"/>
            <c:bubble3D val="0"/>
            <c:spPr>
              <a:solidFill>
                <a:srgbClr val="065A82"/>
              </a:solidFill>
              <a:effectLst/>
            </c:spPr>
          </c:dPt>
          <c:dPt>
            <c:idx val="2"/>
            <c:invertIfNegative val="0"/>
            <c:bubble3D val="0"/>
            <c:spPr>
              <a:solidFill>
                <a:srgbClr val="065A82"/>
              </a:solidFill>
              <a:effectLst/>
            </c:spPr>
          </c:dPt>
          <c:dPt>
            <c:idx val="3"/>
            <c:invertIfNegative val="0"/>
            <c:bubble3D val="0"/>
            <c:spPr>
              <a:solidFill>
                <a:srgbClr val="065A82"/>
              </a:solidFill>
              <a:effectLst/>
            </c:spPr>
          </c:dPt>
          <c:dPt>
            <c:idx val="4"/>
            <c:invertIfNegative val="0"/>
            <c:bubble3D val="0"/>
            <c:spPr>
              <a:solidFill>
                <a:srgbClr val="065A82"/>
              </a:solidFill>
              <a:effectLst/>
            </c:spPr>
          </c:dPt>
          <c:dPt>
            <c:idx val="5"/>
            <c:invertIfNegative val="0"/>
            <c:bubble3D val="0"/>
            <c:spPr>
              <a:solidFill>
                <a:srgbClr val="065A82"/>
              </a:solidFill>
              <a:effectLst/>
            </c:spPr>
          </c:dPt>
          <c:dPt>
            <c:idx val="6"/>
            <c:invertIfNegative val="0"/>
            <c:bubble3D val="0"/>
            <c:spPr>
              <a:solidFill>
                <a:srgbClr val="065A82"/>
              </a:solidFill>
              <a:effectLst/>
            </c:spPr>
          </c:dPt>
          <c:cat>
            <c:multiLvlStrRef>
              <c:f>Sheet1!$A$2:$A$8</c:f>
              <c:multiLvlStrCache>
                <c:ptCount val="7"/>
                <c:lvl>
                  <c:pt idx="0">
                    <c:v>Mon</c:v>
                  </c:pt>
                  <c:pt idx="1">
                    <c:v>Tue</c:v>
                  </c:pt>
                  <c:pt idx="2">
                    <c:v>Wed</c:v>
                  </c:pt>
                  <c:pt idx="3">
                    <c:v>Thu</c:v>
                  </c:pt>
                  <c:pt idx="4">
                    <c:v>Fri</c:v>
                  </c:pt>
                  <c:pt idx="5">
                    <c:v>Sat</c:v>
                  </c:pt>
                  <c:pt idx="6">
                    <c:v>Sun</c:v>
                  </c:pt>
                </c:lvl>
              </c:multiLvlStrCache>
            </c:multiLvlStrRef>
          </c:cat>
          <c:val>
            <c:numRef>
              <c:f>Sheet1!$B$2:$B$8</c:f>
              <c:numCache>
                <c:formatCode>General</c:formatCode>
                <c:ptCount val="7"/>
                <c:pt idx="0">
                  <c:v>973</c:v>
                </c:pt>
                <c:pt idx="1">
                  <c:v>1320</c:v>
                </c:pt>
                <c:pt idx="2">
                  <c:v>1536</c:v>
                </c:pt>
                <c:pt idx="3">
                  <c:v>1469</c:v>
                </c:pt>
                <c:pt idx="4">
                  <c:v>1637</c:v>
                </c:pt>
                <c:pt idx="5">
                  <c:v>1653</c:v>
                </c:pt>
                <c:pt idx="6">
                  <c:v>1395</c:v>
                </c:pt>
              </c:numCache>
            </c:numRef>
          </c:val>
        </c:ser>
        <c:dLbls>
          <c:numFmt formatCode="#,##0" sourceLinked="0"/>
          <c:txPr>
            <a:bodyPr/>
            <a:lstStyle/>
            <a:p>
              <a:pPr>
                <a:defRPr b="0" i="0" strike="noStrike" sz="1200" u="none">
                  <a:solidFill>
                    <a:srgbClr val="21295C"/>
                  </a:solidFill>
                  <a:latin typeface="Arial"/>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6B7686"/>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1295C"/>
                </a:solidFill>
                <a:latin typeface="Calibri"/>
              </a:defRPr>
            </a:pPr>
            <a:r>
              <a:rPr sz="1300" b="0" i="0" u="none" strike="noStrike">
                <a:solidFill>
                  <a:srgbClr val="21295C"/>
                </a:solidFill>
                <a:latin typeface="Calibri"/>
              </a:rPr>
              <a:t>Top 5 regions</a:t>
            </a:r>
          </a:p>
        </c:rich>
      </c:tx>
      <c:layout/>
      <c:overlay val="0"/>
    </c:title>
    <c:autoTitleDeleted val="0"/>
    <c:plotArea>
      <c:layout/>
      <c:barChart>
        <c:barDir val="bar"/>
        <c:grouping val="clustered"/>
        <c:varyColors val="0"/>
        <c:ser>
          <c:idx val="0"/>
          <c:order val="0"/>
          <c:tx>
            <c:strRef>
              <c:f>Sheet1!$B$1</c:f>
              <c:strCache>
                <c:ptCount val="1"/>
                <c:pt idx="0">
                  <c:v>Viewing records</c:v>
                </c:pt>
              </c:strCache>
            </c:strRef>
          </c:tx>
          <c:spPr>
            <a:solidFill>
              <a:srgbClr val="065A82"/>
            </a:solidFill>
            <a:effectLst/>
          </c:spPr>
          <c:invertIfNegative val="0"/>
          <c:dLbls>
            <c:numFmt formatCode="#,##0" sourceLinked="0"/>
            <c:txPr>
              <a:bodyPr/>
              <a:lstStyle/>
              <a:p>
                <a:pPr>
                  <a:defRPr b="0" i="0" strike="noStrike" sz="1050" u="none">
                    <a:solidFill>
                      <a:srgbClr val="21295C"/>
                    </a:solidFill>
                    <a:latin typeface="Arial"/>
                  </a:defRPr>
                </a:pPr>
              </a:p>
            </c:txPr>
            <c:showLegendKey val="0"/>
            <c:showVal val="1"/>
            <c:showCatName val="0"/>
            <c:showSerName val="0"/>
            <c:showPercent val="0"/>
            <c:showBubbleSize val="0"/>
            <c:showLeaderLines val="0"/>
          </c:dLbls>
          <c:cat>
            <c:multiLvlStrRef>
              <c:f>Sheet1!$A$2:$A$6</c:f>
              <c:multiLvlStrCache>
                <c:ptCount val="5"/>
                <c:lvl>
                  <c:pt idx="0">
                    <c:v>Limpopo</c:v>
                  </c:pt>
                  <c:pt idx="1">
                    <c:v>Mpumalanga</c:v>
                  </c:pt>
                  <c:pt idx="2">
                    <c:v>Kwazulu Natal</c:v>
                  </c:pt>
                  <c:pt idx="3">
                    <c:v>Western Cape</c:v>
                  </c:pt>
                  <c:pt idx="4">
                    <c:v>Gauteng</c:v>
                  </c:pt>
                </c:lvl>
              </c:multiLvlStrCache>
            </c:multiLvlStrRef>
          </c:cat>
          <c:val>
            <c:numRef>
              <c:f>Sheet1!$B$2:$B$6</c:f>
              <c:numCache>
                <c:formatCode>General</c:formatCode>
                <c:ptCount val="5"/>
                <c:pt idx="0">
                  <c:v>763</c:v>
                </c:pt>
                <c:pt idx="1">
                  <c:v>917</c:v>
                </c:pt>
                <c:pt idx="2">
                  <c:v>999</c:v>
                </c:pt>
                <c:pt idx="3">
                  <c:v>1845</c:v>
                </c:pt>
                <c:pt idx="4">
                  <c:v>3645</c:v>
                </c:pt>
              </c:numCache>
            </c:numRef>
          </c:val>
        </c:ser>
        <c:dLbls>
          <c:numFmt formatCode="#,##0" sourceLinked="0"/>
          <c:txPr>
            <a:bodyPr/>
            <a:lstStyle/>
            <a:p>
              <a:pPr>
                <a:defRPr b="0" i="0" strike="noStrike" sz="1050" u="none">
                  <a:solidFill>
                    <a:srgbClr val="21295C"/>
                  </a:solidFill>
                  <a:latin typeface="Arial"/>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6B7686"/>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1295C"/>
                </a:solidFill>
                <a:latin typeface="Calibri"/>
              </a:defRPr>
            </a:pPr>
            <a:r>
              <a:rPr sz="1300" b="0" i="0" u="none" strike="noStrike">
                <a:solidFill>
                  <a:srgbClr val="21295C"/>
                </a:solidFill>
                <a:latin typeface="Calibri"/>
              </a:rPr>
              <a:t>Viewership by age group</a:t>
            </a:r>
          </a:p>
        </c:rich>
      </c:tx>
      <c:layout/>
      <c:overlay val="0"/>
    </c:title>
    <c:autoTitleDeleted val="0"/>
    <c:plotArea>
      <c:layout/>
      <c:barChart>
        <c:barDir val="col"/>
        <c:grouping val="clustered"/>
        <c:varyColors val="0"/>
        <c:ser>
          <c:idx val="0"/>
          <c:order val="0"/>
          <c:tx>
            <c:strRef>
              <c:f>Sheet1!$B$1</c:f>
              <c:strCache>
                <c:ptCount val="1"/>
                <c:pt idx="0">
                  <c:v>Viewing records</c:v>
                </c:pt>
              </c:strCache>
            </c:strRef>
          </c:tx>
          <c:spPr>
            <a:solidFill>
              <a:srgbClr val="1C7293"/>
            </a:solidFill>
            <a:effectLst/>
          </c:spPr>
          <c:invertIfNegative val="0"/>
          <c:dLbls>
            <c:numFmt formatCode="#,##0" sourceLinked="0"/>
            <c:txPr>
              <a:bodyPr/>
              <a:lstStyle/>
              <a:p>
                <a:pPr>
                  <a:defRPr b="0" i="0" strike="noStrike" sz="1000" u="none">
                    <a:solidFill>
                      <a:srgbClr val="21295C"/>
                    </a:solidFill>
                    <a:latin typeface="Arial"/>
                  </a:defRPr>
                </a:pPr>
              </a:p>
            </c:txPr>
            <c:showLegendKey val="0"/>
            <c:showVal val="1"/>
            <c:showCatName val="0"/>
            <c:showSerName val="0"/>
            <c:showPercent val="0"/>
            <c:showBubbleSize val="0"/>
            <c:showLeaderLines val="0"/>
          </c:dLbls>
          <c:cat>
            <c:multiLvlStrRef>
              <c:f>Sheet1!$A$2:$A$8</c:f>
              <c:multiLvlStrCache>
                <c:ptCount val="7"/>
                <c:lvl>
                  <c:pt idx="0">
                    <c:v>Infants</c:v>
                  </c:pt>
                  <c:pt idx="1">
                    <c:v>Kids</c:v>
                  </c:pt>
                  <c:pt idx="2">
                    <c:v>Teenager</c:v>
                  </c:pt>
                  <c:pt idx="3">
                    <c:v>Youth</c:v>
                  </c:pt>
                  <c:pt idx="4">
                    <c:v>Adult</c:v>
                  </c:pt>
                  <c:pt idx="5">
                    <c:v>Elder</c:v>
                  </c:pt>
                  <c:pt idx="6">
                    <c:v>Senior</c:v>
                  </c:pt>
                </c:lvl>
              </c:multiLvlStrCache>
            </c:multiLvlStrRef>
          </c:cat>
          <c:val>
            <c:numRef>
              <c:f>Sheet1!$B$2:$B$8</c:f>
              <c:numCache>
                <c:formatCode>General</c:formatCode>
                <c:ptCount val="7"/>
                <c:pt idx="0">
                  <c:v>259</c:v>
                </c:pt>
                <c:pt idx="1">
                  <c:v>99</c:v>
                </c:pt>
                <c:pt idx="2">
                  <c:v>436</c:v>
                </c:pt>
                <c:pt idx="3">
                  <c:v>5719</c:v>
                </c:pt>
                <c:pt idx="4">
                  <c:v>2971</c:v>
                </c:pt>
                <c:pt idx="5">
                  <c:v>451</c:v>
                </c:pt>
                <c:pt idx="6">
                  <c:v>48</c:v>
                </c:pt>
              </c:numCache>
            </c:numRef>
          </c:val>
        </c:ser>
        <c:dLbls>
          <c:numFmt formatCode="#,##0" sourceLinked="0"/>
          <c:txPr>
            <a:bodyPr/>
            <a:lstStyle/>
            <a:p>
              <a:pPr>
                <a:defRPr b="0" i="0" strike="noStrike" sz="1000" u="none">
                  <a:solidFill>
                    <a:srgbClr val="21295C"/>
                  </a:solidFill>
                  <a:latin typeface="Arial"/>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686"/>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326880" y="-2011680"/>
            <a:ext cx="5943600" cy="5943600"/>
          </a:xfrm>
          <a:prstGeom prst="ellipse">
            <a:avLst/>
          </a:prstGeom>
          <a:solidFill>
            <a:srgbClr val="065A82">
              <a:alpha val="45000"/>
            </a:srgbClr>
          </a:solidFill>
          <a:ln/>
        </p:spPr>
      </p:sp>
      <p:sp>
        <p:nvSpPr>
          <p:cNvPr id="3" name="Shape 1"/>
          <p:cNvSpPr/>
          <p:nvPr/>
        </p:nvSpPr>
        <p:spPr>
          <a:xfrm>
            <a:off x="-1645920" y="4389120"/>
            <a:ext cx="4114800" cy="4114800"/>
          </a:xfrm>
          <a:prstGeom prst="ellipse">
            <a:avLst/>
          </a:prstGeom>
          <a:solidFill>
            <a:srgbClr val="1C7293">
              <a:alpha val="35000"/>
            </a:srgbClr>
          </a:solidFill>
          <a:ln/>
        </p:spPr>
      </p:sp>
      <p:sp>
        <p:nvSpPr>
          <p:cNvPr id="4" name="Text 2"/>
          <p:cNvSpPr/>
          <p:nvPr/>
        </p:nvSpPr>
        <p:spPr>
          <a:xfrm>
            <a:off x="822960" y="2148840"/>
            <a:ext cx="9144000" cy="822960"/>
          </a:xfrm>
          <a:prstGeom prst="rect">
            <a:avLst/>
          </a:prstGeom>
          <a:noFill/>
          <a:ln/>
        </p:spPr>
        <p:txBody>
          <a:bodyPr wrap="square" rtlCol="0" anchor="ctr"/>
          <a:lstStyle/>
          <a:p>
            <a:pPr indent="0" marL="0">
              <a:buNone/>
            </a:pPr>
            <a:r>
              <a:rPr lang="en-US" sz="2000" b="1" spc="300" kern="0" dirty="0">
                <a:solidFill>
                  <a:srgbClr val="9FC4DE"/>
                </a:solidFill>
                <a:latin typeface="Calibri" pitchFamily="34" charset="0"/>
                <a:ea typeface="Calibri" pitchFamily="34" charset="-122"/>
                <a:cs typeface="Calibri" pitchFamily="34" charset="-120"/>
              </a:rPr>
              <a:t>BRIGHTTV</a:t>
            </a:r>
            <a:endParaRPr lang="en-US" sz="2000" dirty="0"/>
          </a:p>
        </p:txBody>
      </p:sp>
      <p:sp>
        <p:nvSpPr>
          <p:cNvPr id="5" name="Text 3"/>
          <p:cNvSpPr/>
          <p:nvPr/>
        </p:nvSpPr>
        <p:spPr>
          <a:xfrm>
            <a:off x="777240" y="2606040"/>
            <a:ext cx="10515600" cy="118872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Viewership Case Study</a:t>
            </a:r>
            <a:endParaRPr lang="en-US" sz="4800" dirty="0"/>
          </a:p>
        </p:txBody>
      </p:sp>
      <p:sp>
        <p:nvSpPr>
          <p:cNvPr id="6" name="Text 4"/>
          <p:cNvSpPr/>
          <p:nvPr/>
        </p:nvSpPr>
        <p:spPr>
          <a:xfrm>
            <a:off x="822960" y="3703320"/>
            <a:ext cx="9144000" cy="548640"/>
          </a:xfrm>
          <a:prstGeom prst="rect">
            <a:avLst/>
          </a:prstGeom>
          <a:noFill/>
          <a:ln/>
        </p:spPr>
        <p:txBody>
          <a:bodyPr wrap="square"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Insights and recommendations to grow BrightTV's subscriber base</a:t>
            </a:r>
            <a:endParaRPr lang="en-US" sz="1700" dirty="0"/>
          </a:p>
        </p:txBody>
      </p:sp>
      <p:sp>
        <p:nvSpPr>
          <p:cNvPr id="7" name="Text 5"/>
          <p:cNvSpPr/>
          <p:nvPr/>
        </p:nvSpPr>
        <p:spPr>
          <a:xfrm>
            <a:off x="822960" y="5989320"/>
            <a:ext cx="9601200" cy="365760"/>
          </a:xfrm>
          <a:prstGeom prst="rect">
            <a:avLst/>
          </a:prstGeom>
          <a:noFill/>
          <a:ln/>
        </p:spPr>
        <p:txBody>
          <a:bodyPr wrap="square" rtlCol="0" anchor="ctr"/>
          <a:lstStyle/>
          <a:p>
            <a:pPr indent="0" marL="0">
              <a:buNone/>
            </a:pPr>
            <a:r>
              <a:rPr lang="en-US" sz="1200" dirty="0">
                <a:solidFill>
                  <a:srgbClr val="9FC4DE"/>
                </a:solidFill>
                <a:latin typeface="Calibri" pitchFamily="34" charset="0"/>
                <a:ea typeface="Calibri" pitchFamily="34" charset="-122"/>
                <a:cs typeface="Calibri" pitchFamily="34" charset="-120"/>
              </a:rPr>
              <a:t>Data: Jan – Mar 2016  ·  9,983 viewing records  ·  Prepared for the CEO &amp; CVM team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BRIGHTTV  ·  VIEWERSHIP CASE STUDY</a:t>
            </a:r>
            <a:endParaRPr lang="en-US" sz="1100" dirty="0"/>
          </a:p>
        </p:txBody>
      </p:sp>
      <p:sp>
        <p:nvSpPr>
          <p:cNvPr id="3" name="Text 1"/>
          <p:cNvSpPr/>
          <p:nvPr/>
        </p:nvSpPr>
        <p:spPr>
          <a:xfrm>
            <a:off x="548640" y="566928"/>
            <a:ext cx="1051560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The objective</a:t>
            </a:r>
            <a:endParaRPr lang="en-US" sz="3000" dirty="0"/>
          </a:p>
        </p:txBody>
      </p:sp>
      <p:sp>
        <p:nvSpPr>
          <p:cNvPr id="4" name="Text 2"/>
          <p:cNvSpPr/>
          <p:nvPr/>
        </p:nvSpPr>
        <p:spPr>
          <a:xfrm>
            <a:off x="548640" y="1170432"/>
            <a:ext cx="10789920" cy="365760"/>
          </a:xfrm>
          <a:prstGeom prst="rect">
            <a:avLst/>
          </a:prstGeom>
          <a:noFill/>
          <a:ln/>
        </p:spPr>
        <p:txBody>
          <a:bodyPr wrap="square" rtlCol="0" anchor="ctr"/>
          <a:lstStyle/>
          <a:p>
            <a:pPr indent="0" marL="0">
              <a:buNone/>
            </a:pPr>
            <a:r>
              <a:rPr lang="en-US" sz="1300" i="1" dirty="0">
                <a:solidFill>
                  <a:srgbClr val="6B7686"/>
                </a:solidFill>
                <a:latin typeface="Calibri" pitchFamily="34" charset="0"/>
                <a:ea typeface="Calibri" pitchFamily="34" charset="-122"/>
                <a:cs typeface="Calibri" pitchFamily="34" charset="-120"/>
              </a:rPr>
              <a:t>Why this analysis exists, and what it needs to answer</a:t>
            </a:r>
            <a:endParaRPr lang="en-US" sz="1300" dirty="0"/>
          </a:p>
        </p:txBody>
      </p:sp>
      <p:sp>
        <p:nvSpPr>
          <p:cNvPr id="5" name="Shape 3"/>
          <p:cNvSpPr/>
          <p:nvPr/>
        </p:nvSpPr>
        <p:spPr>
          <a:xfrm>
            <a:off x="548640" y="1737360"/>
            <a:ext cx="10881360" cy="1051560"/>
          </a:xfrm>
          <a:prstGeom prst="roundRect">
            <a:avLst>
              <a:gd name="adj" fmla="val 6957"/>
            </a:avLst>
          </a:prstGeom>
          <a:solidFill>
            <a:srgbClr val="FFFFFF"/>
          </a:solidFill>
          <a:ln w="12700">
            <a:solidFill>
              <a:srgbClr val="E1E5EA"/>
            </a:solidFill>
            <a:prstDash val="solid"/>
          </a:ln>
          <a:effectLst>
            <a:outerShdw sx="100000" sy="100000" kx="0" ky="0" algn="bl" rotWithShape="0" blurRad="76200" dist="25400" dir="5400000">
              <a:srgbClr val="042C53">
                <a:alpha val="8000"/>
              </a:srgbClr>
            </a:outerShdw>
          </a:effectLst>
        </p:spPr>
      </p:sp>
      <p:sp>
        <p:nvSpPr>
          <p:cNvPr id="6" name="Text 4"/>
          <p:cNvSpPr/>
          <p:nvPr/>
        </p:nvSpPr>
        <p:spPr>
          <a:xfrm>
            <a:off x="822960" y="1874520"/>
            <a:ext cx="10332720" cy="77724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CEO objective:  </a:t>
            </a:r>
            <a:pPr indent="0" marL="0">
              <a:buNone/>
            </a:pPr>
            <a:r>
              <a:rPr lang="en-US" sz="1500" dirty="0">
                <a:solidFill>
                  <a:srgbClr val="1C2733"/>
                </a:solidFill>
                <a:latin typeface="Calibri" pitchFamily="34" charset="0"/>
                <a:ea typeface="Calibri" pitchFamily="34" charset="-122"/>
                <a:cs typeface="Calibri" pitchFamily="34" charset="-120"/>
              </a:rPr>
              <a:t>grow BrightTV's subscription base this financial year. The CVM team needs data-driven insight to act on.</a:t>
            </a:r>
            <a:endParaRPr lang="en-US" sz="1500" dirty="0"/>
          </a:p>
        </p:txBody>
      </p:sp>
      <p:sp>
        <p:nvSpPr>
          <p:cNvPr id="7" name="Shape 5"/>
          <p:cNvSpPr/>
          <p:nvPr/>
        </p:nvSpPr>
        <p:spPr>
          <a:xfrm>
            <a:off x="548640" y="3200400"/>
            <a:ext cx="2606040" cy="2468880"/>
          </a:xfrm>
          <a:prstGeom prst="roundRect">
            <a:avLst>
              <a:gd name="adj" fmla="val 2963"/>
            </a:avLst>
          </a:prstGeom>
          <a:solidFill>
            <a:srgbClr val="FFFFFF"/>
          </a:solidFill>
          <a:ln w="12700">
            <a:solidFill>
              <a:srgbClr val="E1E5EA"/>
            </a:solidFill>
            <a:prstDash val="solid"/>
          </a:ln>
        </p:spPr>
      </p:sp>
      <p:sp>
        <p:nvSpPr>
          <p:cNvPr id="8" name="Shape 6"/>
          <p:cNvSpPr/>
          <p:nvPr/>
        </p:nvSpPr>
        <p:spPr>
          <a:xfrm>
            <a:off x="777240" y="3456432"/>
            <a:ext cx="502920" cy="502920"/>
          </a:xfrm>
          <a:prstGeom prst="ellipse">
            <a:avLst/>
          </a:prstGeom>
          <a:solidFill>
            <a:srgbClr val="1C7293"/>
          </a:solidFill>
          <a:ln/>
        </p:spPr>
      </p:sp>
      <p:sp>
        <p:nvSpPr>
          <p:cNvPr id="9" name="Text 7"/>
          <p:cNvSpPr/>
          <p:nvPr/>
        </p:nvSpPr>
        <p:spPr>
          <a:xfrm>
            <a:off x="777240" y="3456432"/>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0" name="Text 8"/>
          <p:cNvSpPr/>
          <p:nvPr/>
        </p:nvSpPr>
        <p:spPr>
          <a:xfrm>
            <a:off x="777240" y="4114800"/>
            <a:ext cx="2148840" cy="502920"/>
          </a:xfrm>
          <a:prstGeom prst="rect">
            <a:avLst/>
          </a:prstGeom>
          <a:noFill/>
          <a:ln/>
        </p:spPr>
        <p:txBody>
          <a:bodyPr wrap="square"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User &amp; usage trends</a:t>
            </a:r>
            <a:endParaRPr lang="en-US" sz="1500" dirty="0"/>
          </a:p>
        </p:txBody>
      </p:sp>
      <p:sp>
        <p:nvSpPr>
          <p:cNvPr id="11" name="Text 9"/>
          <p:cNvSpPr/>
          <p:nvPr/>
        </p:nvSpPr>
        <p:spPr>
          <a:xfrm>
            <a:off x="777240" y="4617720"/>
            <a:ext cx="2148840" cy="914400"/>
          </a:xfrm>
          <a:prstGeom prst="rect">
            <a:avLst/>
          </a:prstGeom>
          <a:noFill/>
          <a:ln/>
        </p:spPr>
        <p:txBody>
          <a:bodyPr wrap="square" rtlCol="0" anchor="ctr"/>
          <a:lstStyle/>
          <a:p>
            <a:pPr indent="0" marL="0">
              <a:buNone/>
            </a:pPr>
            <a:r>
              <a:rPr lang="en-US" sz="1150" dirty="0">
                <a:solidFill>
                  <a:srgbClr val="6B7686"/>
                </a:solidFill>
                <a:latin typeface="Calibri" pitchFamily="34" charset="0"/>
                <a:ea typeface="Calibri" pitchFamily="34" charset="-122"/>
                <a:cs typeface="Calibri" pitchFamily="34" charset="-120"/>
              </a:rPr>
              <a:t>How viewership is growing and who the subscriber base is</a:t>
            </a:r>
            <a:endParaRPr lang="en-US" sz="1150" dirty="0"/>
          </a:p>
        </p:txBody>
      </p:sp>
      <p:sp>
        <p:nvSpPr>
          <p:cNvPr id="12" name="Shape 10"/>
          <p:cNvSpPr/>
          <p:nvPr/>
        </p:nvSpPr>
        <p:spPr>
          <a:xfrm>
            <a:off x="3383280" y="3200400"/>
            <a:ext cx="2606040" cy="2468880"/>
          </a:xfrm>
          <a:prstGeom prst="roundRect">
            <a:avLst>
              <a:gd name="adj" fmla="val 2963"/>
            </a:avLst>
          </a:prstGeom>
          <a:solidFill>
            <a:srgbClr val="FFFFFF"/>
          </a:solidFill>
          <a:ln w="12700">
            <a:solidFill>
              <a:srgbClr val="E1E5EA"/>
            </a:solidFill>
            <a:prstDash val="solid"/>
          </a:ln>
        </p:spPr>
      </p:sp>
      <p:sp>
        <p:nvSpPr>
          <p:cNvPr id="13" name="Shape 11"/>
          <p:cNvSpPr/>
          <p:nvPr/>
        </p:nvSpPr>
        <p:spPr>
          <a:xfrm>
            <a:off x="3611880" y="3456432"/>
            <a:ext cx="502920" cy="502920"/>
          </a:xfrm>
          <a:prstGeom prst="ellipse">
            <a:avLst/>
          </a:prstGeom>
          <a:solidFill>
            <a:srgbClr val="1C7293"/>
          </a:solidFill>
          <a:ln/>
        </p:spPr>
      </p:sp>
      <p:sp>
        <p:nvSpPr>
          <p:cNvPr id="14" name="Text 12"/>
          <p:cNvSpPr/>
          <p:nvPr/>
        </p:nvSpPr>
        <p:spPr>
          <a:xfrm>
            <a:off x="3611880" y="3456432"/>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5" name="Text 13"/>
          <p:cNvSpPr/>
          <p:nvPr/>
        </p:nvSpPr>
        <p:spPr>
          <a:xfrm>
            <a:off x="3611880" y="4114800"/>
            <a:ext cx="2148840" cy="502920"/>
          </a:xfrm>
          <a:prstGeom prst="rect">
            <a:avLst/>
          </a:prstGeom>
          <a:noFill/>
          <a:ln/>
        </p:spPr>
        <p:txBody>
          <a:bodyPr wrap="square"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Consumption drivers</a:t>
            </a:r>
            <a:endParaRPr lang="en-US" sz="1500" dirty="0"/>
          </a:p>
        </p:txBody>
      </p:sp>
      <p:sp>
        <p:nvSpPr>
          <p:cNvPr id="16" name="Text 14"/>
          <p:cNvSpPr/>
          <p:nvPr/>
        </p:nvSpPr>
        <p:spPr>
          <a:xfrm>
            <a:off x="3611880" y="4617720"/>
            <a:ext cx="2148840" cy="914400"/>
          </a:xfrm>
          <a:prstGeom prst="rect">
            <a:avLst/>
          </a:prstGeom>
          <a:noFill/>
          <a:ln/>
        </p:spPr>
        <p:txBody>
          <a:bodyPr wrap="square" rtlCol="0" anchor="ctr"/>
          <a:lstStyle/>
          <a:p>
            <a:pPr indent="0" marL="0">
              <a:buNone/>
            </a:pPr>
            <a:r>
              <a:rPr lang="en-US" sz="1150" dirty="0">
                <a:solidFill>
                  <a:srgbClr val="6B7686"/>
                </a:solidFill>
                <a:latin typeface="Calibri" pitchFamily="34" charset="0"/>
                <a:ea typeface="Calibri" pitchFamily="34" charset="-122"/>
                <a:cs typeface="Calibri" pitchFamily="34" charset="-120"/>
              </a:rPr>
              <a:t>What factors — time, day, channel — shape when and how people watch</a:t>
            </a:r>
            <a:endParaRPr lang="en-US" sz="1150" dirty="0"/>
          </a:p>
        </p:txBody>
      </p:sp>
      <p:sp>
        <p:nvSpPr>
          <p:cNvPr id="17" name="Shape 15"/>
          <p:cNvSpPr/>
          <p:nvPr/>
        </p:nvSpPr>
        <p:spPr>
          <a:xfrm>
            <a:off x="6217920" y="3200400"/>
            <a:ext cx="2606040" cy="2468880"/>
          </a:xfrm>
          <a:prstGeom prst="roundRect">
            <a:avLst>
              <a:gd name="adj" fmla="val 2963"/>
            </a:avLst>
          </a:prstGeom>
          <a:solidFill>
            <a:srgbClr val="FFFFFF"/>
          </a:solidFill>
          <a:ln w="12700">
            <a:solidFill>
              <a:srgbClr val="E1E5EA"/>
            </a:solidFill>
            <a:prstDash val="solid"/>
          </a:ln>
        </p:spPr>
      </p:sp>
      <p:sp>
        <p:nvSpPr>
          <p:cNvPr id="18" name="Shape 16"/>
          <p:cNvSpPr/>
          <p:nvPr/>
        </p:nvSpPr>
        <p:spPr>
          <a:xfrm>
            <a:off x="6446520" y="3456432"/>
            <a:ext cx="502920" cy="502920"/>
          </a:xfrm>
          <a:prstGeom prst="ellipse">
            <a:avLst/>
          </a:prstGeom>
          <a:solidFill>
            <a:srgbClr val="1C7293"/>
          </a:solidFill>
          <a:ln/>
        </p:spPr>
      </p:sp>
      <p:sp>
        <p:nvSpPr>
          <p:cNvPr id="19" name="Text 17"/>
          <p:cNvSpPr/>
          <p:nvPr/>
        </p:nvSpPr>
        <p:spPr>
          <a:xfrm>
            <a:off x="6446520" y="3456432"/>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0" name="Text 18"/>
          <p:cNvSpPr/>
          <p:nvPr/>
        </p:nvSpPr>
        <p:spPr>
          <a:xfrm>
            <a:off x="6446520" y="4114800"/>
            <a:ext cx="2148840" cy="502920"/>
          </a:xfrm>
          <a:prstGeom prst="rect">
            <a:avLst/>
          </a:prstGeom>
          <a:noFill/>
          <a:ln/>
        </p:spPr>
        <p:txBody>
          <a:bodyPr wrap="square"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Low-consumption days</a:t>
            </a:r>
            <a:endParaRPr lang="en-US" sz="1500" dirty="0"/>
          </a:p>
        </p:txBody>
      </p:sp>
      <p:sp>
        <p:nvSpPr>
          <p:cNvPr id="21" name="Text 19"/>
          <p:cNvSpPr/>
          <p:nvPr/>
        </p:nvSpPr>
        <p:spPr>
          <a:xfrm>
            <a:off x="6446520" y="4617720"/>
            <a:ext cx="2148840" cy="914400"/>
          </a:xfrm>
          <a:prstGeom prst="rect">
            <a:avLst/>
          </a:prstGeom>
          <a:noFill/>
          <a:ln/>
        </p:spPr>
        <p:txBody>
          <a:bodyPr wrap="square" rtlCol="0" anchor="ctr"/>
          <a:lstStyle/>
          <a:p>
            <a:pPr indent="0" marL="0">
              <a:buNone/>
            </a:pPr>
            <a:r>
              <a:rPr lang="en-US" sz="1150" dirty="0">
                <a:solidFill>
                  <a:srgbClr val="6B7686"/>
                </a:solidFill>
                <a:latin typeface="Calibri" pitchFamily="34" charset="0"/>
                <a:ea typeface="Calibri" pitchFamily="34" charset="-122"/>
                <a:cs typeface="Calibri" pitchFamily="34" charset="-120"/>
              </a:rPr>
              <a:t>What content could lift the quietest day of the week</a:t>
            </a:r>
            <a:endParaRPr lang="en-US" sz="1150" dirty="0"/>
          </a:p>
        </p:txBody>
      </p:sp>
      <p:sp>
        <p:nvSpPr>
          <p:cNvPr id="22" name="Shape 20"/>
          <p:cNvSpPr/>
          <p:nvPr/>
        </p:nvSpPr>
        <p:spPr>
          <a:xfrm>
            <a:off x="9052560" y="3200400"/>
            <a:ext cx="2606040" cy="2468880"/>
          </a:xfrm>
          <a:prstGeom prst="roundRect">
            <a:avLst>
              <a:gd name="adj" fmla="val 2963"/>
            </a:avLst>
          </a:prstGeom>
          <a:solidFill>
            <a:srgbClr val="FFFFFF"/>
          </a:solidFill>
          <a:ln w="12700">
            <a:solidFill>
              <a:srgbClr val="E1E5EA"/>
            </a:solidFill>
            <a:prstDash val="solid"/>
          </a:ln>
        </p:spPr>
      </p:sp>
      <p:sp>
        <p:nvSpPr>
          <p:cNvPr id="23" name="Shape 21"/>
          <p:cNvSpPr/>
          <p:nvPr/>
        </p:nvSpPr>
        <p:spPr>
          <a:xfrm>
            <a:off x="9281160" y="3456432"/>
            <a:ext cx="502920" cy="502920"/>
          </a:xfrm>
          <a:prstGeom prst="ellipse">
            <a:avLst/>
          </a:prstGeom>
          <a:solidFill>
            <a:srgbClr val="1C7293"/>
          </a:solidFill>
          <a:ln/>
        </p:spPr>
      </p:sp>
      <p:sp>
        <p:nvSpPr>
          <p:cNvPr id="24" name="Text 22"/>
          <p:cNvSpPr/>
          <p:nvPr/>
        </p:nvSpPr>
        <p:spPr>
          <a:xfrm>
            <a:off x="9281160" y="3456432"/>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5" name="Text 23"/>
          <p:cNvSpPr/>
          <p:nvPr/>
        </p:nvSpPr>
        <p:spPr>
          <a:xfrm>
            <a:off x="9281160" y="4114800"/>
            <a:ext cx="2148840" cy="502920"/>
          </a:xfrm>
          <a:prstGeom prst="rect">
            <a:avLst/>
          </a:prstGeom>
          <a:noFill/>
          <a:ln/>
        </p:spPr>
        <p:txBody>
          <a:bodyPr wrap="square"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Growth initiatives</a:t>
            </a:r>
            <a:endParaRPr lang="en-US" sz="1500" dirty="0"/>
          </a:p>
        </p:txBody>
      </p:sp>
      <p:sp>
        <p:nvSpPr>
          <p:cNvPr id="26" name="Text 24"/>
          <p:cNvSpPr/>
          <p:nvPr/>
        </p:nvSpPr>
        <p:spPr>
          <a:xfrm>
            <a:off x="9281160" y="4617720"/>
            <a:ext cx="2148840" cy="914400"/>
          </a:xfrm>
          <a:prstGeom prst="rect">
            <a:avLst/>
          </a:prstGeom>
          <a:noFill/>
          <a:ln/>
        </p:spPr>
        <p:txBody>
          <a:bodyPr wrap="square" rtlCol="0" anchor="ctr"/>
          <a:lstStyle/>
          <a:p>
            <a:pPr indent="0" marL="0">
              <a:buNone/>
            </a:pPr>
            <a:r>
              <a:rPr lang="en-US" sz="1150" dirty="0">
                <a:solidFill>
                  <a:srgbClr val="6B7686"/>
                </a:solidFill>
                <a:latin typeface="Calibri" pitchFamily="34" charset="0"/>
                <a:ea typeface="Calibri" pitchFamily="34" charset="-122"/>
                <a:cs typeface="Calibri" pitchFamily="34" charset="-120"/>
              </a:rPr>
              <a:t>What CVM should do next to grow the user base</a:t>
            </a:r>
            <a:endParaRPr lang="en-US" sz="1150" dirty="0"/>
          </a:p>
        </p:txBody>
      </p:sp>
      <p:sp>
        <p:nvSpPr>
          <p:cNvPr id="27" name="Text 25"/>
          <p:cNvSpPr/>
          <p:nvPr/>
        </p:nvSpPr>
        <p:spPr>
          <a:xfrm>
            <a:off x="11430000" y="6473952"/>
            <a:ext cx="640080" cy="274320"/>
          </a:xfrm>
          <a:prstGeom prst="rect">
            <a:avLst/>
          </a:prstGeom>
          <a:noFill/>
          <a:ln/>
        </p:spPr>
        <p:txBody>
          <a:bodyPr wrap="square" rtlCol="0" anchor="ctr"/>
          <a:lstStyle/>
          <a:p>
            <a:pPr algn="r" indent="0" marL="0">
              <a:buNone/>
            </a:pPr>
            <a:r>
              <a:rPr lang="en-US" sz="1000" dirty="0">
                <a:solidFill>
                  <a:srgbClr val="6B7686"/>
                </a:solidFill>
                <a:latin typeface="Calibri" pitchFamily="34" charset="0"/>
                <a:ea typeface="Calibri" pitchFamily="34" charset="-122"/>
                <a:cs typeface="Calibri" pitchFamily="34" charset="-120"/>
              </a:rPr>
              <a:t>2 / 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BRIGHTTV  ·  VIEWERSHIP CASE STUDY</a:t>
            </a:r>
            <a:endParaRPr lang="en-US" sz="1100" dirty="0"/>
          </a:p>
        </p:txBody>
      </p:sp>
      <p:sp>
        <p:nvSpPr>
          <p:cNvPr id="3" name="Text 1"/>
          <p:cNvSpPr/>
          <p:nvPr/>
        </p:nvSpPr>
        <p:spPr>
          <a:xfrm>
            <a:off x="548640" y="566928"/>
            <a:ext cx="1051560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Executive summary</a:t>
            </a:r>
            <a:endParaRPr lang="en-US" sz="3000" dirty="0"/>
          </a:p>
        </p:txBody>
      </p:sp>
      <p:sp>
        <p:nvSpPr>
          <p:cNvPr id="4" name="Text 2"/>
          <p:cNvSpPr/>
          <p:nvPr/>
        </p:nvSpPr>
        <p:spPr>
          <a:xfrm>
            <a:off x="548640" y="1170432"/>
            <a:ext cx="10789920" cy="365760"/>
          </a:xfrm>
          <a:prstGeom prst="rect">
            <a:avLst/>
          </a:prstGeom>
          <a:noFill/>
          <a:ln/>
        </p:spPr>
        <p:txBody>
          <a:bodyPr wrap="square" rtlCol="0" anchor="ctr"/>
          <a:lstStyle/>
          <a:p>
            <a:pPr indent="0" marL="0">
              <a:buNone/>
            </a:pPr>
            <a:r>
              <a:rPr lang="en-US" sz="1300" i="1" dirty="0">
                <a:solidFill>
                  <a:srgbClr val="6B7686"/>
                </a:solidFill>
                <a:latin typeface="Calibri" pitchFamily="34" charset="0"/>
                <a:ea typeface="Calibri" pitchFamily="34" charset="-122"/>
                <a:cs typeface="Calibri" pitchFamily="34" charset="-120"/>
              </a:rPr>
              <a:t>Jan – Mar 2016, all times converted to SAST (UTC+2)</a:t>
            </a:r>
            <a:endParaRPr lang="en-US" sz="1300" dirty="0"/>
          </a:p>
        </p:txBody>
      </p:sp>
      <p:sp>
        <p:nvSpPr>
          <p:cNvPr id="5" name="Shape 3"/>
          <p:cNvSpPr/>
          <p:nvPr/>
        </p:nvSpPr>
        <p:spPr>
          <a:xfrm>
            <a:off x="548640" y="2011680"/>
            <a:ext cx="2048256" cy="1965960"/>
          </a:xfrm>
          <a:prstGeom prst="roundRect">
            <a:avLst>
              <a:gd name="adj" fmla="val 3721"/>
            </a:avLst>
          </a:prstGeom>
          <a:solidFill>
            <a:srgbClr val="FFFFFF"/>
          </a:solidFill>
          <a:ln w="12700">
            <a:solidFill>
              <a:srgbClr val="E1E5EA"/>
            </a:solidFill>
            <a:prstDash val="solid"/>
          </a:ln>
        </p:spPr>
      </p:sp>
      <p:sp>
        <p:nvSpPr>
          <p:cNvPr id="6" name="Text 4"/>
          <p:cNvSpPr/>
          <p:nvPr/>
        </p:nvSpPr>
        <p:spPr>
          <a:xfrm>
            <a:off x="658368" y="2240280"/>
            <a:ext cx="1828800" cy="914400"/>
          </a:xfrm>
          <a:prstGeom prst="rect">
            <a:avLst/>
          </a:prstGeom>
          <a:noFill/>
          <a:ln/>
        </p:spPr>
        <p:txBody>
          <a:bodyPr wrap="square" rtlCol="0" anchor="ctr"/>
          <a:lstStyle/>
          <a:p>
            <a:pPr algn="ctr" indent="0" marL="0">
              <a:buNone/>
            </a:pPr>
            <a:r>
              <a:rPr lang="en-US" sz="3000" b="1" dirty="0">
                <a:solidFill>
                  <a:srgbClr val="21295C"/>
                </a:solidFill>
                <a:latin typeface="Cambria" pitchFamily="34" charset="0"/>
                <a:ea typeface="Cambria" pitchFamily="34" charset="-122"/>
                <a:cs typeface="Cambria" pitchFamily="34" charset="-120"/>
              </a:rPr>
              <a:t>9,983</a:t>
            </a:r>
            <a:endParaRPr lang="en-US" sz="3000" dirty="0"/>
          </a:p>
        </p:txBody>
      </p:sp>
      <p:sp>
        <p:nvSpPr>
          <p:cNvPr id="7" name="Text 5"/>
          <p:cNvSpPr/>
          <p:nvPr/>
        </p:nvSpPr>
        <p:spPr>
          <a:xfrm>
            <a:off x="658368" y="3246120"/>
            <a:ext cx="1828800" cy="640080"/>
          </a:xfrm>
          <a:prstGeom prst="rect">
            <a:avLst/>
          </a:prstGeom>
          <a:noFill/>
          <a:ln/>
        </p:spPr>
        <p:txBody>
          <a:bodyPr wrap="square" rtlCol="0" anchor="ctr"/>
          <a:lstStyle/>
          <a:p>
            <a:pPr algn="ctr" indent="0" marL="0">
              <a:buNone/>
            </a:pPr>
            <a:r>
              <a:rPr lang="en-US" sz="1150" dirty="0">
                <a:solidFill>
                  <a:srgbClr val="6B7686"/>
                </a:solidFill>
                <a:latin typeface="Calibri" pitchFamily="34" charset="0"/>
                <a:ea typeface="Calibri" pitchFamily="34" charset="-122"/>
                <a:cs typeface="Calibri" pitchFamily="34" charset="-120"/>
              </a:rPr>
              <a:t>Total viewing</a:t>
            </a:r>
            <a:endParaRPr lang="en-US" sz="1150" dirty="0"/>
          </a:p>
          <a:p>
            <a:pPr algn="ctr" indent="0" marL="0">
              <a:buNone/>
            </a:pPr>
            <a:r>
              <a:rPr lang="en-US" sz="1150" dirty="0">
                <a:solidFill>
                  <a:srgbClr val="6B7686"/>
                </a:solidFill>
                <a:latin typeface="Calibri" pitchFamily="34" charset="0"/>
                <a:ea typeface="Calibri" pitchFamily="34" charset="-122"/>
                <a:cs typeface="Calibri" pitchFamily="34" charset="-120"/>
              </a:rPr>
              <a:t>records</a:t>
            </a:r>
            <a:endParaRPr lang="en-US" sz="1150" dirty="0"/>
          </a:p>
        </p:txBody>
      </p:sp>
      <p:sp>
        <p:nvSpPr>
          <p:cNvPr id="8" name="Shape 6"/>
          <p:cNvSpPr/>
          <p:nvPr/>
        </p:nvSpPr>
        <p:spPr>
          <a:xfrm>
            <a:off x="2761488" y="2011680"/>
            <a:ext cx="2048256" cy="1965960"/>
          </a:xfrm>
          <a:prstGeom prst="roundRect">
            <a:avLst>
              <a:gd name="adj" fmla="val 3721"/>
            </a:avLst>
          </a:prstGeom>
          <a:solidFill>
            <a:srgbClr val="FFFFFF"/>
          </a:solidFill>
          <a:ln w="12700">
            <a:solidFill>
              <a:srgbClr val="E1E5EA"/>
            </a:solidFill>
            <a:prstDash val="solid"/>
          </a:ln>
        </p:spPr>
      </p:sp>
      <p:sp>
        <p:nvSpPr>
          <p:cNvPr id="9" name="Text 7"/>
          <p:cNvSpPr/>
          <p:nvPr/>
        </p:nvSpPr>
        <p:spPr>
          <a:xfrm>
            <a:off x="2871216" y="2240280"/>
            <a:ext cx="1828800" cy="914400"/>
          </a:xfrm>
          <a:prstGeom prst="rect">
            <a:avLst/>
          </a:prstGeom>
          <a:noFill/>
          <a:ln/>
        </p:spPr>
        <p:txBody>
          <a:bodyPr wrap="square" rtlCol="0" anchor="ctr"/>
          <a:lstStyle/>
          <a:p>
            <a:pPr algn="ctr" indent="0" marL="0">
              <a:buNone/>
            </a:pPr>
            <a:r>
              <a:rPr lang="en-US" sz="3000" b="1" dirty="0">
                <a:solidFill>
                  <a:srgbClr val="21295C"/>
                </a:solidFill>
                <a:latin typeface="Cambria" pitchFamily="34" charset="0"/>
                <a:ea typeface="Cambria" pitchFamily="34" charset="-122"/>
                <a:cs typeface="Cambria" pitchFamily="34" charset="-120"/>
              </a:rPr>
              <a:t>1,522.2h</a:t>
            </a:r>
            <a:endParaRPr lang="en-US" sz="3000" dirty="0"/>
          </a:p>
        </p:txBody>
      </p:sp>
      <p:sp>
        <p:nvSpPr>
          <p:cNvPr id="10" name="Text 8"/>
          <p:cNvSpPr/>
          <p:nvPr/>
        </p:nvSpPr>
        <p:spPr>
          <a:xfrm>
            <a:off x="2871216" y="3246120"/>
            <a:ext cx="1828800" cy="640080"/>
          </a:xfrm>
          <a:prstGeom prst="rect">
            <a:avLst/>
          </a:prstGeom>
          <a:noFill/>
          <a:ln/>
        </p:spPr>
        <p:txBody>
          <a:bodyPr wrap="square" rtlCol="0" anchor="ctr"/>
          <a:lstStyle/>
          <a:p>
            <a:pPr algn="ctr" indent="0" marL="0">
              <a:buNone/>
            </a:pPr>
            <a:r>
              <a:rPr lang="en-US" sz="1150" dirty="0">
                <a:solidFill>
                  <a:srgbClr val="6B7686"/>
                </a:solidFill>
                <a:latin typeface="Calibri" pitchFamily="34" charset="0"/>
                <a:ea typeface="Calibri" pitchFamily="34" charset="-122"/>
                <a:cs typeface="Calibri" pitchFamily="34" charset="-120"/>
              </a:rPr>
              <a:t>Total viewing</a:t>
            </a:r>
            <a:endParaRPr lang="en-US" sz="1150" dirty="0"/>
          </a:p>
          <a:p>
            <a:pPr algn="ctr" indent="0" marL="0">
              <a:buNone/>
            </a:pPr>
            <a:r>
              <a:rPr lang="en-US" sz="1150" dirty="0">
                <a:solidFill>
                  <a:srgbClr val="6B7686"/>
                </a:solidFill>
                <a:latin typeface="Calibri" pitchFamily="34" charset="0"/>
                <a:ea typeface="Calibri" pitchFamily="34" charset="-122"/>
                <a:cs typeface="Calibri" pitchFamily="34" charset="-120"/>
              </a:rPr>
              <a:t>hours</a:t>
            </a:r>
            <a:endParaRPr lang="en-US" sz="1150" dirty="0"/>
          </a:p>
        </p:txBody>
      </p:sp>
      <p:sp>
        <p:nvSpPr>
          <p:cNvPr id="11" name="Shape 9"/>
          <p:cNvSpPr/>
          <p:nvPr/>
        </p:nvSpPr>
        <p:spPr>
          <a:xfrm>
            <a:off x="4974336" y="2011680"/>
            <a:ext cx="2048256" cy="1965960"/>
          </a:xfrm>
          <a:prstGeom prst="roundRect">
            <a:avLst>
              <a:gd name="adj" fmla="val 3721"/>
            </a:avLst>
          </a:prstGeom>
          <a:solidFill>
            <a:srgbClr val="FFFFFF"/>
          </a:solidFill>
          <a:ln w="12700">
            <a:solidFill>
              <a:srgbClr val="E1E5EA"/>
            </a:solidFill>
            <a:prstDash val="solid"/>
          </a:ln>
        </p:spPr>
      </p:sp>
      <p:sp>
        <p:nvSpPr>
          <p:cNvPr id="12" name="Text 10"/>
          <p:cNvSpPr/>
          <p:nvPr/>
        </p:nvSpPr>
        <p:spPr>
          <a:xfrm>
            <a:off x="5084064" y="2240280"/>
            <a:ext cx="1828800" cy="914400"/>
          </a:xfrm>
          <a:prstGeom prst="rect">
            <a:avLst/>
          </a:prstGeom>
          <a:noFill/>
          <a:ln/>
        </p:spPr>
        <p:txBody>
          <a:bodyPr wrap="square" rtlCol="0" anchor="ctr"/>
          <a:lstStyle/>
          <a:p>
            <a:pPr algn="ctr" indent="0" marL="0">
              <a:buNone/>
            </a:pPr>
            <a:r>
              <a:rPr lang="en-US" sz="3000" b="1" dirty="0">
                <a:solidFill>
                  <a:srgbClr val="21295C"/>
                </a:solidFill>
                <a:latin typeface="Cambria" pitchFamily="34" charset="0"/>
                <a:ea typeface="Cambria" pitchFamily="34" charset="-122"/>
                <a:cs typeface="Cambria" pitchFamily="34" charset="-120"/>
              </a:rPr>
              <a:t>9.15 min</a:t>
            </a:r>
            <a:endParaRPr lang="en-US" sz="3000" dirty="0"/>
          </a:p>
        </p:txBody>
      </p:sp>
      <p:sp>
        <p:nvSpPr>
          <p:cNvPr id="13" name="Text 11"/>
          <p:cNvSpPr/>
          <p:nvPr/>
        </p:nvSpPr>
        <p:spPr>
          <a:xfrm>
            <a:off x="5084064" y="3246120"/>
            <a:ext cx="1828800" cy="640080"/>
          </a:xfrm>
          <a:prstGeom prst="rect">
            <a:avLst/>
          </a:prstGeom>
          <a:noFill/>
          <a:ln/>
        </p:spPr>
        <p:txBody>
          <a:bodyPr wrap="square" rtlCol="0" anchor="ctr"/>
          <a:lstStyle/>
          <a:p>
            <a:pPr algn="ctr" indent="0" marL="0">
              <a:buNone/>
            </a:pPr>
            <a:r>
              <a:rPr lang="en-US" sz="1150" dirty="0">
                <a:solidFill>
                  <a:srgbClr val="6B7686"/>
                </a:solidFill>
                <a:latin typeface="Calibri" pitchFamily="34" charset="0"/>
                <a:ea typeface="Calibri" pitchFamily="34" charset="-122"/>
                <a:cs typeface="Calibri" pitchFamily="34" charset="-120"/>
              </a:rPr>
              <a:t>Average watch</a:t>
            </a:r>
            <a:endParaRPr lang="en-US" sz="1150" dirty="0"/>
          </a:p>
          <a:p>
            <a:pPr algn="ctr" indent="0" marL="0">
              <a:buNone/>
            </a:pPr>
            <a:r>
              <a:rPr lang="en-US" sz="1150" dirty="0">
                <a:solidFill>
                  <a:srgbClr val="6B7686"/>
                </a:solidFill>
                <a:latin typeface="Calibri" pitchFamily="34" charset="0"/>
                <a:ea typeface="Calibri" pitchFamily="34" charset="-122"/>
                <a:cs typeface="Calibri" pitchFamily="34" charset="-120"/>
              </a:rPr>
              <a:t>duration</a:t>
            </a:r>
            <a:endParaRPr lang="en-US" sz="1150" dirty="0"/>
          </a:p>
        </p:txBody>
      </p:sp>
      <p:sp>
        <p:nvSpPr>
          <p:cNvPr id="14" name="Shape 12"/>
          <p:cNvSpPr/>
          <p:nvPr/>
        </p:nvSpPr>
        <p:spPr>
          <a:xfrm>
            <a:off x="7187184" y="2011680"/>
            <a:ext cx="2048256" cy="1965960"/>
          </a:xfrm>
          <a:prstGeom prst="roundRect">
            <a:avLst>
              <a:gd name="adj" fmla="val 3721"/>
            </a:avLst>
          </a:prstGeom>
          <a:solidFill>
            <a:srgbClr val="FFFFFF"/>
          </a:solidFill>
          <a:ln w="12700">
            <a:solidFill>
              <a:srgbClr val="E1E5EA"/>
            </a:solidFill>
            <a:prstDash val="solid"/>
          </a:ln>
        </p:spPr>
      </p:sp>
      <p:sp>
        <p:nvSpPr>
          <p:cNvPr id="15" name="Text 13"/>
          <p:cNvSpPr/>
          <p:nvPr/>
        </p:nvSpPr>
        <p:spPr>
          <a:xfrm>
            <a:off x="7296912" y="2240280"/>
            <a:ext cx="1828800" cy="914400"/>
          </a:xfrm>
          <a:prstGeom prst="rect">
            <a:avLst/>
          </a:prstGeom>
          <a:noFill/>
          <a:ln/>
        </p:spPr>
        <p:txBody>
          <a:bodyPr wrap="square" rtlCol="0" anchor="ctr"/>
          <a:lstStyle/>
          <a:p>
            <a:pPr algn="ctr" indent="0" marL="0">
              <a:buNone/>
            </a:pPr>
            <a:r>
              <a:rPr lang="en-US" sz="3000" b="1" dirty="0">
                <a:solidFill>
                  <a:srgbClr val="21295C"/>
                </a:solidFill>
                <a:latin typeface="Cambria" pitchFamily="34" charset="0"/>
                <a:ea typeface="Cambria" pitchFamily="34" charset="-122"/>
                <a:cs typeface="Cambria" pitchFamily="34" charset="-120"/>
              </a:rPr>
              <a:t>18</a:t>
            </a:r>
            <a:endParaRPr lang="en-US" sz="3000" dirty="0"/>
          </a:p>
        </p:txBody>
      </p:sp>
      <p:sp>
        <p:nvSpPr>
          <p:cNvPr id="16" name="Text 14"/>
          <p:cNvSpPr/>
          <p:nvPr/>
        </p:nvSpPr>
        <p:spPr>
          <a:xfrm>
            <a:off x="7296912" y="3246120"/>
            <a:ext cx="1828800" cy="640080"/>
          </a:xfrm>
          <a:prstGeom prst="rect">
            <a:avLst/>
          </a:prstGeom>
          <a:noFill/>
          <a:ln/>
        </p:spPr>
        <p:txBody>
          <a:bodyPr wrap="square" rtlCol="0" anchor="ctr"/>
          <a:lstStyle/>
          <a:p>
            <a:pPr algn="ctr" indent="0" marL="0">
              <a:buNone/>
            </a:pPr>
            <a:r>
              <a:rPr lang="en-US" sz="1150" dirty="0">
                <a:solidFill>
                  <a:srgbClr val="6B7686"/>
                </a:solidFill>
                <a:latin typeface="Calibri" pitchFamily="34" charset="0"/>
                <a:ea typeface="Calibri" pitchFamily="34" charset="-122"/>
                <a:cs typeface="Calibri" pitchFamily="34" charset="-120"/>
              </a:rPr>
              <a:t>TV channels</a:t>
            </a:r>
            <a:endParaRPr lang="en-US" sz="1150" dirty="0"/>
          </a:p>
          <a:p>
            <a:pPr algn="ctr" indent="0" marL="0">
              <a:buNone/>
            </a:pPr>
            <a:r>
              <a:rPr lang="en-US" sz="1150" dirty="0">
                <a:solidFill>
                  <a:srgbClr val="6B7686"/>
                </a:solidFill>
                <a:latin typeface="Calibri" pitchFamily="34" charset="0"/>
                <a:ea typeface="Calibri" pitchFamily="34" charset="-122"/>
                <a:cs typeface="Calibri" pitchFamily="34" charset="-120"/>
              </a:rPr>
              <a:t>tracked</a:t>
            </a:r>
            <a:endParaRPr lang="en-US" sz="1150" dirty="0"/>
          </a:p>
        </p:txBody>
      </p:sp>
      <p:sp>
        <p:nvSpPr>
          <p:cNvPr id="17" name="Shape 15"/>
          <p:cNvSpPr/>
          <p:nvPr/>
        </p:nvSpPr>
        <p:spPr>
          <a:xfrm>
            <a:off x="9400032" y="2011680"/>
            <a:ext cx="2048256" cy="1965960"/>
          </a:xfrm>
          <a:prstGeom prst="roundRect">
            <a:avLst>
              <a:gd name="adj" fmla="val 3721"/>
            </a:avLst>
          </a:prstGeom>
          <a:solidFill>
            <a:srgbClr val="065A82"/>
          </a:solidFill>
          <a:ln w="12700">
            <a:solidFill>
              <a:srgbClr val="E1E5EA"/>
            </a:solidFill>
            <a:prstDash val="solid"/>
          </a:ln>
        </p:spPr>
      </p:sp>
      <p:sp>
        <p:nvSpPr>
          <p:cNvPr id="18" name="Text 16"/>
          <p:cNvSpPr/>
          <p:nvPr/>
        </p:nvSpPr>
        <p:spPr>
          <a:xfrm>
            <a:off x="9509760" y="2240280"/>
            <a:ext cx="1828800" cy="91440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Live Events</a:t>
            </a:r>
            <a:endParaRPr lang="en-US" sz="2200" dirty="0"/>
          </a:p>
        </p:txBody>
      </p:sp>
      <p:sp>
        <p:nvSpPr>
          <p:cNvPr id="19" name="Text 17"/>
          <p:cNvSpPr/>
          <p:nvPr/>
        </p:nvSpPr>
        <p:spPr>
          <a:xfrm>
            <a:off x="9509760" y="3246120"/>
            <a:ext cx="1828800" cy="640080"/>
          </a:xfrm>
          <a:prstGeom prst="rect">
            <a:avLst/>
          </a:prstGeom>
          <a:noFill/>
          <a:ln/>
        </p:spPr>
        <p:txBody>
          <a:bodyPr wrap="square"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Top performing</a:t>
            </a:r>
            <a:endParaRPr lang="en-US" sz="1150" dirty="0"/>
          </a:p>
          <a:p>
            <a:pPr algn="ctr" indent="0" marL="0">
              <a:buNone/>
            </a:pPr>
            <a:r>
              <a:rPr lang="en-US" sz="1150" dirty="0">
                <a:solidFill>
                  <a:srgbClr val="CADCFC"/>
                </a:solidFill>
                <a:latin typeface="Calibri" pitchFamily="34" charset="0"/>
                <a:ea typeface="Calibri" pitchFamily="34" charset="-122"/>
                <a:cs typeface="Calibri" pitchFamily="34" charset="-120"/>
              </a:rPr>
              <a:t>channel</a:t>
            </a:r>
            <a:endParaRPr lang="en-US" sz="1150" dirty="0"/>
          </a:p>
        </p:txBody>
      </p:sp>
      <p:sp>
        <p:nvSpPr>
          <p:cNvPr id="20" name="Shape 18"/>
          <p:cNvSpPr/>
          <p:nvPr/>
        </p:nvSpPr>
        <p:spPr>
          <a:xfrm>
            <a:off x="548640" y="4343400"/>
            <a:ext cx="10881360" cy="1691640"/>
          </a:xfrm>
          <a:prstGeom prst="roundRect">
            <a:avLst>
              <a:gd name="adj" fmla="val 4324"/>
            </a:avLst>
          </a:prstGeom>
          <a:solidFill>
            <a:srgbClr val="FFFFFF"/>
          </a:solidFill>
          <a:ln w="12700">
            <a:solidFill>
              <a:srgbClr val="E1E5EA"/>
            </a:solidFill>
            <a:prstDash val="solid"/>
          </a:ln>
        </p:spPr>
      </p:sp>
      <p:sp>
        <p:nvSpPr>
          <p:cNvPr id="21" name="Text 19"/>
          <p:cNvSpPr/>
          <p:nvPr/>
        </p:nvSpPr>
        <p:spPr>
          <a:xfrm>
            <a:off x="868680" y="4553712"/>
            <a:ext cx="10058400" cy="320040"/>
          </a:xfrm>
          <a:prstGeom prst="rect">
            <a:avLst/>
          </a:prstGeom>
          <a:noFill/>
          <a:ln/>
        </p:spPr>
        <p:txBody>
          <a:bodyPr wrap="square"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The headline</a:t>
            </a:r>
            <a:endParaRPr lang="en-US" sz="1400" dirty="0"/>
          </a:p>
        </p:txBody>
      </p:sp>
      <p:sp>
        <p:nvSpPr>
          <p:cNvPr id="22" name="Text 20"/>
          <p:cNvSpPr/>
          <p:nvPr/>
        </p:nvSpPr>
        <p:spPr>
          <a:xfrm>
            <a:off x="868680" y="4892040"/>
            <a:ext cx="10241280" cy="1051560"/>
          </a:xfrm>
          <a:prstGeom prst="rect">
            <a:avLst/>
          </a:prstGeom>
          <a:noFill/>
          <a:ln/>
        </p:spPr>
        <p:txBody>
          <a:bodyPr wrap="square" rtlCol="0" anchor="ctr"/>
          <a:lstStyle/>
          <a:p>
            <a:pPr indent="0" marL="0">
              <a:lnSpc>
                <a:spcPct val="115000"/>
              </a:lnSpc>
              <a:buNone/>
            </a:pPr>
            <a:r>
              <a:rPr lang="en-US" sz="1300" dirty="0">
                <a:solidFill>
                  <a:srgbClr val="1C2733"/>
                </a:solidFill>
                <a:latin typeface="Calibri" pitchFamily="34" charset="0"/>
                <a:ea typeface="Calibri" pitchFamily="34" charset="-122"/>
                <a:cs typeface="Calibri" pitchFamily="34" charset="-120"/>
              </a:rPr>
              <a:t>Viewing records nearly doubled from Jan (2,199) to Mar (4,814), and watch hours grew from 291.4h to 838.9h — growth is accelerating, not flattening. Live Events and ICC Cricket World Cup 2011 lead engagement, weekday viewing outweighs weekend, and the subscriber base skews Youth, male, and concentrated in Gauteng and Western Cape.</a:t>
            </a:r>
            <a:endParaRPr lang="en-US" sz="1300" dirty="0"/>
          </a:p>
        </p:txBody>
      </p:sp>
      <p:sp>
        <p:nvSpPr>
          <p:cNvPr id="23" name="Text 21"/>
          <p:cNvSpPr/>
          <p:nvPr/>
        </p:nvSpPr>
        <p:spPr>
          <a:xfrm>
            <a:off x="11430000" y="6473952"/>
            <a:ext cx="640080" cy="274320"/>
          </a:xfrm>
          <a:prstGeom prst="rect">
            <a:avLst/>
          </a:prstGeom>
          <a:noFill/>
          <a:ln/>
        </p:spPr>
        <p:txBody>
          <a:bodyPr wrap="square" rtlCol="0" anchor="ctr"/>
          <a:lstStyle/>
          <a:p>
            <a:pPr algn="r" indent="0" marL="0">
              <a:buNone/>
            </a:pPr>
            <a:r>
              <a:rPr lang="en-US" sz="1000" dirty="0">
                <a:solidFill>
                  <a:srgbClr val="6B7686"/>
                </a:solidFill>
                <a:latin typeface="Calibri" pitchFamily="34" charset="0"/>
                <a:ea typeface="Calibri" pitchFamily="34" charset="-122"/>
                <a:cs typeface="Calibri" pitchFamily="34" charset="-120"/>
              </a:rPr>
              <a:t>3 / 12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BRIGHTTV  ·  VIEWERSHIP CASE STUDY</a:t>
            </a:r>
            <a:endParaRPr lang="en-US" sz="1100" dirty="0"/>
          </a:p>
        </p:txBody>
      </p:sp>
      <p:sp>
        <p:nvSpPr>
          <p:cNvPr id="3" name="Text 1"/>
          <p:cNvSpPr/>
          <p:nvPr/>
        </p:nvSpPr>
        <p:spPr>
          <a:xfrm>
            <a:off x="548640" y="566928"/>
            <a:ext cx="1051560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User &amp; usage trends</a:t>
            </a:r>
            <a:endParaRPr lang="en-US" sz="3000" dirty="0"/>
          </a:p>
        </p:txBody>
      </p:sp>
      <p:sp>
        <p:nvSpPr>
          <p:cNvPr id="4" name="Text 2"/>
          <p:cNvSpPr/>
          <p:nvPr/>
        </p:nvSpPr>
        <p:spPr>
          <a:xfrm>
            <a:off x="548640" y="1170432"/>
            <a:ext cx="10789920" cy="365760"/>
          </a:xfrm>
          <a:prstGeom prst="rect">
            <a:avLst/>
          </a:prstGeom>
          <a:noFill/>
          <a:ln/>
        </p:spPr>
        <p:txBody>
          <a:bodyPr wrap="square" rtlCol="0" anchor="ctr"/>
          <a:lstStyle/>
          <a:p>
            <a:pPr indent="0" marL="0">
              <a:buNone/>
            </a:pPr>
            <a:r>
              <a:rPr lang="en-US" sz="1300" i="1" dirty="0">
                <a:solidFill>
                  <a:srgbClr val="6B7686"/>
                </a:solidFill>
                <a:latin typeface="Calibri" pitchFamily="34" charset="0"/>
                <a:ea typeface="Calibri" pitchFamily="34" charset="-122"/>
                <a:cs typeface="Calibri" pitchFamily="34" charset="-120"/>
              </a:rPr>
              <a:t>Consumption is growing quarter over quarter</a:t>
            </a:r>
            <a:endParaRPr lang="en-US" sz="1300" dirty="0"/>
          </a:p>
        </p:txBody>
      </p:sp>
      <p:graphicFrame>
        <p:nvGraphicFramePr>
          <p:cNvPr id="5" name="Chart 0" descr=""/>
          <p:cNvGraphicFramePr/>
          <p:nvPr/>
        </p:nvGraphicFramePr>
        <p:xfrm>
          <a:off x="548640" y="1691640"/>
          <a:ext cx="5212080" cy="3429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48640" y="5166360"/>
            <a:ext cx="5212080" cy="777240"/>
          </a:xfrm>
          <a:prstGeom prst="rect">
            <a:avLst/>
          </a:prstGeom>
          <a:noFill/>
          <a:ln/>
        </p:spPr>
        <p:txBody>
          <a:bodyPr wrap="square" rtlCol="0" anchor="ctr"/>
          <a:lstStyle/>
          <a:p>
            <a:pPr indent="0" marL="0">
              <a:lnSpc>
                <a:spcPct val="115000"/>
              </a:lnSpc>
              <a:buNone/>
            </a:pPr>
            <a:r>
              <a:rPr lang="en-US" sz="1150" i="1" dirty="0">
                <a:solidFill>
                  <a:srgbClr val="6B7686"/>
                </a:solidFill>
                <a:latin typeface="Calibri" pitchFamily="34" charset="0"/>
                <a:ea typeface="Calibri" pitchFamily="34" charset="-122"/>
                <a:cs typeface="Calibri" pitchFamily="34" charset="-120"/>
              </a:rPr>
              <a:t>Records climbed every month, with the steepest jump in March — up 62% on February alone.</a:t>
            </a:r>
            <a:endParaRPr lang="en-US" sz="1150" dirty="0"/>
          </a:p>
        </p:txBody>
      </p:sp>
      <p:graphicFrame>
        <p:nvGraphicFramePr>
          <p:cNvPr id="7" name="Chart 1" descr=""/>
          <p:cNvGraphicFramePr/>
          <p:nvPr/>
        </p:nvGraphicFramePr>
        <p:xfrm>
          <a:off x="6035040" y="1691640"/>
          <a:ext cx="5394960" cy="342900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6035040" y="5166360"/>
            <a:ext cx="5394960" cy="777240"/>
          </a:xfrm>
          <a:prstGeom prst="rect">
            <a:avLst/>
          </a:prstGeom>
          <a:noFill/>
          <a:ln/>
        </p:spPr>
        <p:txBody>
          <a:bodyPr wrap="square" rtlCol="0" anchor="ctr"/>
          <a:lstStyle/>
          <a:p>
            <a:pPr indent="0" marL="0">
              <a:lnSpc>
                <a:spcPct val="115000"/>
              </a:lnSpc>
              <a:buNone/>
            </a:pPr>
            <a:r>
              <a:rPr lang="en-US" sz="1150" i="1" dirty="0">
                <a:solidFill>
                  <a:srgbClr val="6B7686"/>
                </a:solidFill>
                <a:latin typeface="Calibri" pitchFamily="34" charset="0"/>
                <a:ea typeface="Calibri" pitchFamily="34" charset="-122"/>
                <a:cs typeface="Calibri" pitchFamily="34" charset="-120"/>
              </a:rPr>
              <a:t>Hours grew even faster than records did — sessions aren't just more frequent, they're getting longer too.</a:t>
            </a:r>
            <a:endParaRPr lang="en-US" sz="1150" dirty="0"/>
          </a:p>
        </p:txBody>
      </p:sp>
      <p:sp>
        <p:nvSpPr>
          <p:cNvPr id="9" name="Shape 5"/>
          <p:cNvSpPr/>
          <p:nvPr/>
        </p:nvSpPr>
        <p:spPr>
          <a:xfrm>
            <a:off x="548640" y="6053328"/>
            <a:ext cx="10881360" cy="502920"/>
          </a:xfrm>
          <a:prstGeom prst="roundRect">
            <a:avLst>
              <a:gd name="adj" fmla="val 10909"/>
            </a:avLst>
          </a:prstGeom>
          <a:solidFill>
            <a:srgbClr val="FFFFFF"/>
          </a:solidFill>
          <a:ln w="12700">
            <a:solidFill>
              <a:srgbClr val="E1E5EA"/>
            </a:solidFill>
            <a:prstDash val="solid"/>
          </a:ln>
        </p:spPr>
      </p:sp>
      <p:sp>
        <p:nvSpPr>
          <p:cNvPr id="10" name="Text 6"/>
          <p:cNvSpPr/>
          <p:nvPr/>
        </p:nvSpPr>
        <p:spPr>
          <a:xfrm>
            <a:off x="777240" y="6053328"/>
            <a:ext cx="10424160" cy="502920"/>
          </a:xfrm>
          <a:prstGeom prst="rect">
            <a:avLst/>
          </a:prstGeom>
          <a:noFill/>
          <a:ln/>
        </p:spPr>
        <p:txBody>
          <a:bodyPr wrap="square"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Takeaway:  </a:t>
            </a:r>
            <a:pPr indent="0" marL="0">
              <a:buNone/>
            </a:pPr>
            <a:r>
              <a:rPr lang="en-US" sz="1200" dirty="0">
                <a:solidFill>
                  <a:srgbClr val="1C2733"/>
                </a:solidFill>
                <a:latin typeface="Calibri" pitchFamily="34" charset="0"/>
                <a:ea typeface="Calibri" pitchFamily="34" charset="-122"/>
                <a:cs typeface="Calibri" pitchFamily="34" charset="-120"/>
              </a:rPr>
              <a:t>hours grew faster than records — sessions aren't just more frequent, they're getting longer too.</a:t>
            </a:r>
            <a:endParaRPr lang="en-US" sz="1200" dirty="0"/>
          </a:p>
        </p:txBody>
      </p:sp>
      <p:sp>
        <p:nvSpPr>
          <p:cNvPr id="11" name="Text 7"/>
          <p:cNvSpPr/>
          <p:nvPr/>
        </p:nvSpPr>
        <p:spPr>
          <a:xfrm>
            <a:off x="11430000" y="6473952"/>
            <a:ext cx="640080" cy="274320"/>
          </a:xfrm>
          <a:prstGeom prst="rect">
            <a:avLst/>
          </a:prstGeom>
          <a:noFill/>
          <a:ln/>
        </p:spPr>
        <p:txBody>
          <a:bodyPr wrap="square" rtlCol="0" anchor="ctr"/>
          <a:lstStyle/>
          <a:p>
            <a:pPr algn="r" indent="0" marL="0">
              <a:buNone/>
            </a:pPr>
            <a:r>
              <a:rPr lang="en-US" sz="1000" dirty="0">
                <a:solidFill>
                  <a:srgbClr val="6B7686"/>
                </a:solidFill>
                <a:latin typeface="Calibri" pitchFamily="34" charset="0"/>
                <a:ea typeface="Calibri" pitchFamily="34" charset="-122"/>
                <a:cs typeface="Calibri" pitchFamily="34" charset="-120"/>
              </a:rPr>
              <a:t>4 / 12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BRIGHTTV  ·  VIEWERSHIP CASE STUDY</a:t>
            </a:r>
            <a:endParaRPr lang="en-US" sz="1100" dirty="0"/>
          </a:p>
        </p:txBody>
      </p:sp>
      <p:sp>
        <p:nvSpPr>
          <p:cNvPr id="3" name="Text 1"/>
          <p:cNvSpPr/>
          <p:nvPr/>
        </p:nvSpPr>
        <p:spPr>
          <a:xfrm>
            <a:off x="548640" y="566928"/>
            <a:ext cx="1051560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Channel performance</a:t>
            </a:r>
            <a:endParaRPr lang="en-US" sz="3000" dirty="0"/>
          </a:p>
        </p:txBody>
      </p:sp>
      <p:sp>
        <p:nvSpPr>
          <p:cNvPr id="4" name="Text 2"/>
          <p:cNvSpPr/>
          <p:nvPr/>
        </p:nvSpPr>
        <p:spPr>
          <a:xfrm>
            <a:off x="548640" y="1170432"/>
            <a:ext cx="10789920" cy="365760"/>
          </a:xfrm>
          <a:prstGeom prst="rect">
            <a:avLst/>
          </a:prstGeom>
          <a:noFill/>
          <a:ln/>
        </p:spPr>
        <p:txBody>
          <a:bodyPr wrap="square" rtlCol="0" anchor="ctr"/>
          <a:lstStyle/>
          <a:p>
            <a:pPr indent="0" marL="0">
              <a:buNone/>
            </a:pPr>
            <a:r>
              <a:rPr lang="en-US" sz="1300" i="1" dirty="0">
                <a:solidFill>
                  <a:srgbClr val="6B7686"/>
                </a:solidFill>
                <a:latin typeface="Calibri" pitchFamily="34" charset="0"/>
                <a:ea typeface="Calibri" pitchFamily="34" charset="-122"/>
                <a:cs typeface="Calibri" pitchFamily="34" charset="-120"/>
              </a:rPr>
              <a:t>Live sport leads on both reach and stickiness</a:t>
            </a:r>
            <a:endParaRPr lang="en-US" sz="1300" dirty="0"/>
          </a:p>
        </p:txBody>
      </p:sp>
      <p:graphicFrame>
        <p:nvGraphicFramePr>
          <p:cNvPr id="5" name="Chart 0" descr=""/>
          <p:cNvGraphicFramePr/>
          <p:nvPr/>
        </p:nvGraphicFramePr>
        <p:xfrm>
          <a:off x="548640" y="1737360"/>
          <a:ext cx="6492240" cy="37947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48640" y="5623560"/>
            <a:ext cx="6492240" cy="685800"/>
          </a:xfrm>
          <a:prstGeom prst="rect">
            <a:avLst/>
          </a:prstGeom>
          <a:noFill/>
          <a:ln/>
        </p:spPr>
        <p:txBody>
          <a:bodyPr wrap="square" rtlCol="0" anchor="ctr"/>
          <a:lstStyle/>
          <a:p>
            <a:pPr indent="0" marL="0">
              <a:lnSpc>
                <a:spcPct val="115000"/>
              </a:lnSpc>
              <a:buNone/>
            </a:pPr>
            <a:r>
              <a:rPr lang="en-US" sz="1150" i="1" dirty="0">
                <a:solidFill>
                  <a:srgbClr val="6B7686"/>
                </a:solidFill>
                <a:latin typeface="Calibri" pitchFamily="34" charset="0"/>
                <a:ea typeface="Calibri" pitchFamily="34" charset="-122"/>
                <a:cs typeface="Calibri" pitchFamily="34" charset="-120"/>
              </a:rPr>
              <a:t>Ranked by viewing records — Live Events and cricket coverage lead the lineup by a wide margin over the rest of the top 5.</a:t>
            </a:r>
            <a:endParaRPr lang="en-US" sz="1150" dirty="0"/>
          </a:p>
        </p:txBody>
      </p:sp>
      <p:sp>
        <p:nvSpPr>
          <p:cNvPr id="7" name="Shape 4"/>
          <p:cNvSpPr/>
          <p:nvPr/>
        </p:nvSpPr>
        <p:spPr>
          <a:xfrm>
            <a:off x="7269480" y="1737360"/>
            <a:ext cx="4160520" cy="4160520"/>
          </a:xfrm>
          <a:prstGeom prst="roundRect">
            <a:avLst>
              <a:gd name="adj" fmla="val 1758"/>
            </a:avLst>
          </a:prstGeom>
          <a:solidFill>
            <a:srgbClr val="FFFFFF"/>
          </a:solidFill>
          <a:ln w="12700">
            <a:solidFill>
              <a:srgbClr val="E1E5EA"/>
            </a:solidFill>
            <a:prstDash val="solid"/>
          </a:ln>
        </p:spPr>
      </p:sp>
      <p:sp>
        <p:nvSpPr>
          <p:cNvPr id="8" name="Text 5"/>
          <p:cNvSpPr/>
          <p:nvPr/>
        </p:nvSpPr>
        <p:spPr>
          <a:xfrm>
            <a:off x="7498080" y="1901952"/>
            <a:ext cx="3703320" cy="365760"/>
          </a:xfrm>
          <a:prstGeom prst="rect">
            <a:avLst/>
          </a:prstGeom>
          <a:noFill/>
          <a:ln/>
        </p:spPr>
        <p:txBody>
          <a:bodyPr wrap="square"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Average duration by channel (top 5)</a:t>
            </a:r>
            <a:endParaRPr lang="en-US" sz="1300" dirty="0"/>
          </a:p>
        </p:txBody>
      </p:sp>
      <p:sp>
        <p:nvSpPr>
          <p:cNvPr id="9" name="Text 6"/>
          <p:cNvSpPr/>
          <p:nvPr/>
        </p:nvSpPr>
        <p:spPr>
          <a:xfrm>
            <a:off x="7498080" y="2395728"/>
            <a:ext cx="2468880" cy="384048"/>
          </a:xfrm>
          <a:prstGeom prst="rect">
            <a:avLst/>
          </a:prstGeom>
          <a:noFill/>
          <a:ln/>
        </p:spPr>
        <p:txBody>
          <a:bodyPr wrap="square" rtlCol="0" anchor="ctr"/>
          <a:lstStyle/>
          <a:p>
            <a:pPr indent="0" marL="0">
              <a:buNone/>
            </a:pPr>
            <a:r>
              <a:rPr lang="en-US" sz="1150" dirty="0">
                <a:solidFill>
                  <a:srgbClr val="1C2733"/>
                </a:solidFill>
                <a:latin typeface="Calibri" pitchFamily="34" charset="0"/>
                <a:ea typeface="Calibri" pitchFamily="34" charset="-122"/>
                <a:cs typeface="Calibri" pitchFamily="34" charset="-120"/>
              </a:rPr>
              <a:t>Live Events</a:t>
            </a:r>
            <a:endParaRPr lang="en-US" sz="1150" dirty="0"/>
          </a:p>
        </p:txBody>
      </p:sp>
      <p:sp>
        <p:nvSpPr>
          <p:cNvPr id="10" name="Text 7"/>
          <p:cNvSpPr/>
          <p:nvPr/>
        </p:nvSpPr>
        <p:spPr>
          <a:xfrm>
            <a:off x="10012680" y="2395728"/>
            <a:ext cx="1188720" cy="384048"/>
          </a:xfrm>
          <a:prstGeom prst="rect">
            <a:avLst/>
          </a:prstGeom>
          <a:noFill/>
          <a:ln/>
        </p:spPr>
        <p:txBody>
          <a:bodyPr wrap="square" rtlCol="0" anchor="ctr"/>
          <a:lstStyle/>
          <a:p>
            <a:pPr algn="r" indent="0" marL="0">
              <a:buNone/>
            </a:pPr>
            <a:r>
              <a:rPr lang="en-US" sz="1250" b="1" dirty="0">
                <a:solidFill>
                  <a:srgbClr val="1C7293"/>
                </a:solidFill>
                <a:latin typeface="Calibri" pitchFamily="34" charset="0"/>
                <a:ea typeface="Calibri" pitchFamily="34" charset="-122"/>
                <a:cs typeface="Calibri" pitchFamily="34" charset="-120"/>
              </a:rPr>
              <a:t>11.33 min</a:t>
            </a:r>
            <a:endParaRPr lang="en-US" sz="1250" dirty="0"/>
          </a:p>
        </p:txBody>
      </p:sp>
      <p:sp>
        <p:nvSpPr>
          <p:cNvPr id="11" name="Shape 8"/>
          <p:cNvSpPr/>
          <p:nvPr/>
        </p:nvSpPr>
        <p:spPr>
          <a:xfrm>
            <a:off x="7498080" y="2779776"/>
            <a:ext cx="3703320" cy="0"/>
          </a:xfrm>
          <a:prstGeom prst="line">
            <a:avLst/>
          </a:prstGeom>
          <a:noFill/>
          <a:ln w="12700">
            <a:solidFill>
              <a:srgbClr val="E1E5EA"/>
            </a:solidFill>
            <a:prstDash val="solid"/>
          </a:ln>
        </p:spPr>
      </p:sp>
      <p:sp>
        <p:nvSpPr>
          <p:cNvPr id="12" name="Text 9"/>
          <p:cNvSpPr/>
          <p:nvPr/>
        </p:nvSpPr>
        <p:spPr>
          <a:xfrm>
            <a:off x="7498080" y="2898648"/>
            <a:ext cx="2468880" cy="384048"/>
          </a:xfrm>
          <a:prstGeom prst="rect">
            <a:avLst/>
          </a:prstGeom>
          <a:noFill/>
          <a:ln/>
        </p:spPr>
        <p:txBody>
          <a:bodyPr wrap="square" rtlCol="0" anchor="ctr"/>
          <a:lstStyle/>
          <a:p>
            <a:pPr indent="0" marL="0">
              <a:buNone/>
            </a:pPr>
            <a:r>
              <a:rPr lang="en-US" sz="1150" dirty="0">
                <a:solidFill>
                  <a:srgbClr val="1C2733"/>
                </a:solidFill>
                <a:latin typeface="Calibri" pitchFamily="34" charset="0"/>
                <a:ea typeface="Calibri" pitchFamily="34" charset="-122"/>
                <a:cs typeface="Calibri" pitchFamily="34" charset="-120"/>
              </a:rPr>
              <a:t>ICC Cricket World Cup 2011</a:t>
            </a:r>
            <a:endParaRPr lang="en-US" sz="1150" dirty="0"/>
          </a:p>
        </p:txBody>
      </p:sp>
      <p:sp>
        <p:nvSpPr>
          <p:cNvPr id="13" name="Text 10"/>
          <p:cNvSpPr/>
          <p:nvPr/>
        </p:nvSpPr>
        <p:spPr>
          <a:xfrm>
            <a:off x="10012680" y="2898648"/>
            <a:ext cx="1188720" cy="384048"/>
          </a:xfrm>
          <a:prstGeom prst="rect">
            <a:avLst/>
          </a:prstGeom>
          <a:noFill/>
          <a:ln/>
        </p:spPr>
        <p:txBody>
          <a:bodyPr wrap="square" rtlCol="0" anchor="ctr"/>
          <a:lstStyle/>
          <a:p>
            <a:pPr algn="r" indent="0" marL="0">
              <a:buNone/>
            </a:pPr>
            <a:r>
              <a:rPr lang="en-US" sz="1250" b="1" dirty="0">
                <a:solidFill>
                  <a:srgbClr val="1C7293"/>
                </a:solidFill>
                <a:latin typeface="Calibri" pitchFamily="34" charset="0"/>
                <a:ea typeface="Calibri" pitchFamily="34" charset="-122"/>
                <a:cs typeface="Calibri" pitchFamily="34" charset="-120"/>
              </a:rPr>
              <a:t>16.93 min</a:t>
            </a:r>
            <a:endParaRPr lang="en-US" sz="1250" dirty="0"/>
          </a:p>
        </p:txBody>
      </p:sp>
      <p:sp>
        <p:nvSpPr>
          <p:cNvPr id="14" name="Shape 11"/>
          <p:cNvSpPr/>
          <p:nvPr/>
        </p:nvSpPr>
        <p:spPr>
          <a:xfrm>
            <a:off x="7498080" y="3282696"/>
            <a:ext cx="3703320" cy="0"/>
          </a:xfrm>
          <a:prstGeom prst="line">
            <a:avLst/>
          </a:prstGeom>
          <a:noFill/>
          <a:ln w="12700">
            <a:solidFill>
              <a:srgbClr val="E1E5EA"/>
            </a:solidFill>
            <a:prstDash val="solid"/>
          </a:ln>
        </p:spPr>
      </p:sp>
      <p:sp>
        <p:nvSpPr>
          <p:cNvPr id="15" name="Text 12"/>
          <p:cNvSpPr/>
          <p:nvPr/>
        </p:nvSpPr>
        <p:spPr>
          <a:xfrm>
            <a:off x="7498080" y="3401568"/>
            <a:ext cx="2468880" cy="384048"/>
          </a:xfrm>
          <a:prstGeom prst="rect">
            <a:avLst/>
          </a:prstGeom>
          <a:noFill/>
          <a:ln/>
        </p:spPr>
        <p:txBody>
          <a:bodyPr wrap="square" rtlCol="0" anchor="ctr"/>
          <a:lstStyle/>
          <a:p>
            <a:pPr indent="0" marL="0">
              <a:buNone/>
            </a:pPr>
            <a:r>
              <a:rPr lang="en-US" sz="1150" dirty="0">
                <a:solidFill>
                  <a:srgbClr val="1C2733"/>
                </a:solidFill>
                <a:latin typeface="Calibri" pitchFamily="34" charset="0"/>
                <a:ea typeface="Calibri" pitchFamily="34" charset="-122"/>
                <a:cs typeface="Calibri" pitchFamily="34" charset="-120"/>
              </a:rPr>
              <a:t>Channel O</a:t>
            </a:r>
            <a:endParaRPr lang="en-US" sz="1150" dirty="0"/>
          </a:p>
        </p:txBody>
      </p:sp>
      <p:sp>
        <p:nvSpPr>
          <p:cNvPr id="16" name="Text 13"/>
          <p:cNvSpPr/>
          <p:nvPr/>
        </p:nvSpPr>
        <p:spPr>
          <a:xfrm>
            <a:off x="10012680" y="3401568"/>
            <a:ext cx="1188720" cy="384048"/>
          </a:xfrm>
          <a:prstGeom prst="rect">
            <a:avLst/>
          </a:prstGeom>
          <a:noFill/>
          <a:ln/>
        </p:spPr>
        <p:txBody>
          <a:bodyPr wrap="square" rtlCol="0" anchor="ctr"/>
          <a:lstStyle/>
          <a:p>
            <a:pPr algn="r" indent="0" marL="0">
              <a:buNone/>
            </a:pPr>
            <a:r>
              <a:rPr lang="en-US" sz="1250" b="1" dirty="0">
                <a:solidFill>
                  <a:srgbClr val="1C7293"/>
                </a:solidFill>
                <a:latin typeface="Calibri" pitchFamily="34" charset="0"/>
                <a:ea typeface="Calibri" pitchFamily="34" charset="-122"/>
                <a:cs typeface="Calibri" pitchFamily="34" charset="-120"/>
              </a:rPr>
              <a:t>11 min</a:t>
            </a:r>
            <a:endParaRPr lang="en-US" sz="1250" dirty="0"/>
          </a:p>
        </p:txBody>
      </p:sp>
      <p:sp>
        <p:nvSpPr>
          <p:cNvPr id="17" name="Shape 14"/>
          <p:cNvSpPr/>
          <p:nvPr/>
        </p:nvSpPr>
        <p:spPr>
          <a:xfrm>
            <a:off x="7498080" y="3785616"/>
            <a:ext cx="3703320" cy="0"/>
          </a:xfrm>
          <a:prstGeom prst="line">
            <a:avLst/>
          </a:prstGeom>
          <a:noFill/>
          <a:ln w="12700">
            <a:solidFill>
              <a:srgbClr val="E1E5EA"/>
            </a:solidFill>
            <a:prstDash val="solid"/>
          </a:ln>
        </p:spPr>
      </p:sp>
      <p:sp>
        <p:nvSpPr>
          <p:cNvPr id="18" name="Text 15"/>
          <p:cNvSpPr/>
          <p:nvPr/>
        </p:nvSpPr>
        <p:spPr>
          <a:xfrm>
            <a:off x="7498080" y="3904488"/>
            <a:ext cx="2468880" cy="384048"/>
          </a:xfrm>
          <a:prstGeom prst="rect">
            <a:avLst/>
          </a:prstGeom>
          <a:noFill/>
          <a:ln/>
        </p:spPr>
        <p:txBody>
          <a:bodyPr wrap="square" rtlCol="0" anchor="ctr"/>
          <a:lstStyle/>
          <a:p>
            <a:pPr indent="0" marL="0">
              <a:buNone/>
            </a:pPr>
            <a:r>
              <a:rPr lang="en-US" sz="1150" dirty="0">
                <a:solidFill>
                  <a:srgbClr val="1C2733"/>
                </a:solidFill>
                <a:latin typeface="Calibri" pitchFamily="34" charset="0"/>
                <a:ea typeface="Calibri" pitchFamily="34" charset="-122"/>
                <a:cs typeface="Calibri" pitchFamily="34" charset="-120"/>
              </a:rPr>
              <a:t>Trace TV</a:t>
            </a:r>
            <a:endParaRPr lang="en-US" sz="1150" dirty="0"/>
          </a:p>
        </p:txBody>
      </p:sp>
      <p:sp>
        <p:nvSpPr>
          <p:cNvPr id="19" name="Text 16"/>
          <p:cNvSpPr/>
          <p:nvPr/>
        </p:nvSpPr>
        <p:spPr>
          <a:xfrm>
            <a:off x="10012680" y="3904488"/>
            <a:ext cx="1188720" cy="384048"/>
          </a:xfrm>
          <a:prstGeom prst="rect">
            <a:avLst/>
          </a:prstGeom>
          <a:noFill/>
          <a:ln/>
        </p:spPr>
        <p:txBody>
          <a:bodyPr wrap="square" rtlCol="0" anchor="ctr"/>
          <a:lstStyle/>
          <a:p>
            <a:pPr algn="r" indent="0" marL="0">
              <a:buNone/>
            </a:pPr>
            <a:r>
              <a:rPr lang="en-US" sz="1250" b="1" dirty="0">
                <a:solidFill>
                  <a:srgbClr val="1C7293"/>
                </a:solidFill>
                <a:latin typeface="Calibri" pitchFamily="34" charset="0"/>
                <a:ea typeface="Calibri" pitchFamily="34" charset="-122"/>
                <a:cs typeface="Calibri" pitchFamily="34" charset="-120"/>
              </a:rPr>
              <a:t>12.1 min</a:t>
            </a:r>
            <a:endParaRPr lang="en-US" sz="1250" dirty="0"/>
          </a:p>
        </p:txBody>
      </p:sp>
      <p:sp>
        <p:nvSpPr>
          <p:cNvPr id="20" name="Shape 17"/>
          <p:cNvSpPr/>
          <p:nvPr/>
        </p:nvSpPr>
        <p:spPr>
          <a:xfrm>
            <a:off x="7498080" y="4288536"/>
            <a:ext cx="3703320" cy="0"/>
          </a:xfrm>
          <a:prstGeom prst="line">
            <a:avLst/>
          </a:prstGeom>
          <a:noFill/>
          <a:ln w="12700">
            <a:solidFill>
              <a:srgbClr val="E1E5EA"/>
            </a:solidFill>
            <a:prstDash val="solid"/>
          </a:ln>
        </p:spPr>
      </p:sp>
      <p:sp>
        <p:nvSpPr>
          <p:cNvPr id="21" name="Text 18"/>
          <p:cNvSpPr/>
          <p:nvPr/>
        </p:nvSpPr>
        <p:spPr>
          <a:xfrm>
            <a:off x="7498080" y="4407408"/>
            <a:ext cx="2468880" cy="384048"/>
          </a:xfrm>
          <a:prstGeom prst="rect">
            <a:avLst/>
          </a:prstGeom>
          <a:noFill/>
          <a:ln/>
        </p:spPr>
        <p:txBody>
          <a:bodyPr wrap="square" rtlCol="0" anchor="ctr"/>
          <a:lstStyle/>
          <a:p>
            <a:pPr indent="0" marL="0">
              <a:buNone/>
            </a:pPr>
            <a:r>
              <a:rPr lang="en-US" sz="1150" dirty="0">
                <a:solidFill>
                  <a:srgbClr val="1C2733"/>
                </a:solidFill>
                <a:latin typeface="Calibri" pitchFamily="34" charset="0"/>
                <a:ea typeface="Calibri" pitchFamily="34" charset="-122"/>
                <a:cs typeface="Calibri" pitchFamily="34" charset="-120"/>
              </a:rPr>
              <a:t>SuperSport Blitz</a:t>
            </a:r>
            <a:endParaRPr lang="en-US" sz="1150" dirty="0"/>
          </a:p>
        </p:txBody>
      </p:sp>
      <p:sp>
        <p:nvSpPr>
          <p:cNvPr id="22" name="Text 19"/>
          <p:cNvSpPr/>
          <p:nvPr/>
        </p:nvSpPr>
        <p:spPr>
          <a:xfrm>
            <a:off x="10012680" y="4407408"/>
            <a:ext cx="1188720" cy="384048"/>
          </a:xfrm>
          <a:prstGeom prst="rect">
            <a:avLst/>
          </a:prstGeom>
          <a:noFill/>
          <a:ln/>
        </p:spPr>
        <p:txBody>
          <a:bodyPr wrap="square" rtlCol="0" anchor="ctr"/>
          <a:lstStyle/>
          <a:p>
            <a:pPr algn="r" indent="0" marL="0">
              <a:buNone/>
            </a:pPr>
            <a:r>
              <a:rPr lang="en-US" sz="1250" b="1" dirty="0">
                <a:solidFill>
                  <a:srgbClr val="1C7293"/>
                </a:solidFill>
                <a:latin typeface="Calibri" pitchFamily="34" charset="0"/>
                <a:ea typeface="Calibri" pitchFamily="34" charset="-122"/>
                <a:cs typeface="Calibri" pitchFamily="34" charset="-120"/>
              </a:rPr>
              <a:t>6.07 min</a:t>
            </a:r>
            <a:endParaRPr lang="en-US" sz="1250" dirty="0"/>
          </a:p>
        </p:txBody>
      </p:sp>
      <p:sp>
        <p:nvSpPr>
          <p:cNvPr id="23" name="Text 20"/>
          <p:cNvSpPr/>
          <p:nvPr/>
        </p:nvSpPr>
        <p:spPr>
          <a:xfrm>
            <a:off x="7498080" y="5047488"/>
            <a:ext cx="3703320" cy="1371600"/>
          </a:xfrm>
          <a:prstGeom prst="rect">
            <a:avLst/>
          </a:prstGeom>
          <a:noFill/>
          <a:ln/>
        </p:spPr>
        <p:txBody>
          <a:bodyPr wrap="square" rtlCol="0" anchor="ctr"/>
          <a:lstStyle/>
          <a:p>
            <a:pPr indent="0" marL="0">
              <a:lnSpc>
                <a:spcPct val="115000"/>
              </a:lnSpc>
              <a:buNone/>
            </a:pPr>
            <a:r>
              <a:rPr lang="en-US" sz="1100" b="1" dirty="0">
                <a:solidFill>
                  <a:srgbClr val="1C7293"/>
                </a:solidFill>
                <a:latin typeface="Calibri" pitchFamily="34" charset="0"/>
                <a:ea typeface="Calibri" pitchFamily="34" charset="-122"/>
                <a:cs typeface="Calibri" pitchFamily="34" charset="-120"/>
              </a:rPr>
              <a:t>ICC Cricket World Cup 2011 </a:t>
            </a:r>
            <a:pPr indent="0" marL="0">
              <a:lnSpc>
                <a:spcPct val="115000"/>
              </a:lnSpc>
              <a:buNone/>
            </a:pPr>
            <a:r>
              <a:rPr lang="en-US" sz="1100" dirty="0">
                <a:solidFill>
                  <a:srgbClr val="1C2733"/>
                </a:solidFill>
                <a:latin typeface="Calibri" pitchFamily="34" charset="0"/>
                <a:ea typeface="Calibri" pitchFamily="34" charset="-122"/>
                <a:cs typeface="Calibri" pitchFamily="34" charset="-120"/>
              </a:rPr>
              <a:t>has the highest average session length among top channels (16.93 min) — live sport keeps viewers watching longer, not just more often.</a:t>
            </a:r>
            <a:endParaRPr lang="en-US" sz="1100" dirty="0"/>
          </a:p>
        </p:txBody>
      </p:sp>
      <p:sp>
        <p:nvSpPr>
          <p:cNvPr id="24" name="Text 21"/>
          <p:cNvSpPr/>
          <p:nvPr/>
        </p:nvSpPr>
        <p:spPr>
          <a:xfrm>
            <a:off x="11430000" y="6473952"/>
            <a:ext cx="640080" cy="274320"/>
          </a:xfrm>
          <a:prstGeom prst="rect">
            <a:avLst/>
          </a:prstGeom>
          <a:noFill/>
          <a:ln/>
        </p:spPr>
        <p:txBody>
          <a:bodyPr wrap="square" rtlCol="0" anchor="ctr"/>
          <a:lstStyle/>
          <a:p>
            <a:pPr algn="r" indent="0" marL="0">
              <a:buNone/>
            </a:pPr>
            <a:r>
              <a:rPr lang="en-US" sz="1000" dirty="0">
                <a:solidFill>
                  <a:srgbClr val="6B7686"/>
                </a:solidFill>
                <a:latin typeface="Calibri" pitchFamily="34" charset="0"/>
                <a:ea typeface="Calibri" pitchFamily="34" charset="-122"/>
                <a:cs typeface="Calibri" pitchFamily="34" charset="-120"/>
              </a:rPr>
              <a:t>5 / 12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BRIGHTTV  ·  VIEWERSHIP CASE STUDY</a:t>
            </a:r>
            <a:endParaRPr lang="en-US" sz="1100" dirty="0"/>
          </a:p>
        </p:txBody>
      </p:sp>
      <p:sp>
        <p:nvSpPr>
          <p:cNvPr id="3" name="Text 1"/>
          <p:cNvSpPr/>
          <p:nvPr/>
        </p:nvSpPr>
        <p:spPr>
          <a:xfrm>
            <a:off x="548640" y="566928"/>
            <a:ext cx="1051560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Viewer behaviour — when people watch</a:t>
            </a:r>
            <a:endParaRPr lang="en-US" sz="3000" dirty="0"/>
          </a:p>
        </p:txBody>
      </p:sp>
      <p:sp>
        <p:nvSpPr>
          <p:cNvPr id="4" name="Text 2"/>
          <p:cNvSpPr/>
          <p:nvPr/>
        </p:nvSpPr>
        <p:spPr>
          <a:xfrm>
            <a:off x="548640" y="1170432"/>
            <a:ext cx="10789920" cy="365760"/>
          </a:xfrm>
          <a:prstGeom prst="rect">
            <a:avLst/>
          </a:prstGeom>
          <a:noFill/>
          <a:ln/>
        </p:spPr>
        <p:txBody>
          <a:bodyPr wrap="square" rtlCol="0" anchor="ctr"/>
          <a:lstStyle/>
          <a:p>
            <a:pPr indent="0" marL="0">
              <a:buNone/>
            </a:pPr>
            <a:r>
              <a:rPr lang="en-US" sz="1300" i="1" dirty="0">
                <a:solidFill>
                  <a:srgbClr val="6B7686"/>
                </a:solidFill>
                <a:latin typeface="Calibri" pitchFamily="34" charset="0"/>
                <a:ea typeface="Calibri" pitchFamily="34" charset="-122"/>
                <a:cs typeface="Calibri" pitchFamily="34" charset="-120"/>
              </a:rPr>
              <a:t>All times converted to SAST (UTC+2)</a:t>
            </a:r>
            <a:endParaRPr lang="en-US" sz="1300" dirty="0"/>
          </a:p>
        </p:txBody>
      </p:sp>
      <p:graphicFrame>
        <p:nvGraphicFramePr>
          <p:cNvPr id="5" name="Chart 0" descr=""/>
          <p:cNvGraphicFramePr/>
          <p:nvPr/>
        </p:nvGraphicFramePr>
        <p:xfrm>
          <a:off x="548640" y="1691640"/>
          <a:ext cx="6492240" cy="33832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48640" y="5166360"/>
            <a:ext cx="6492240" cy="777240"/>
          </a:xfrm>
          <a:prstGeom prst="rect">
            <a:avLst/>
          </a:prstGeom>
          <a:noFill/>
          <a:ln/>
        </p:spPr>
        <p:txBody>
          <a:bodyPr wrap="square" rtlCol="0" anchor="ctr"/>
          <a:lstStyle/>
          <a:p>
            <a:pPr indent="0" marL="0">
              <a:lnSpc>
                <a:spcPct val="115000"/>
              </a:lnSpc>
              <a:buNone/>
            </a:pPr>
            <a:r>
              <a:rPr lang="en-US" sz="1150" i="1" dirty="0">
                <a:solidFill>
                  <a:srgbClr val="6B7686"/>
                </a:solidFill>
                <a:latin typeface="Calibri" pitchFamily="34" charset="0"/>
                <a:ea typeface="Calibri" pitchFamily="34" charset="-122"/>
                <a:cs typeface="Calibri" pitchFamily="34" charset="-120"/>
              </a:rPr>
              <a:t>Viewing builds from a midnight low, peaks in the afternoon, then falls through evening and overnight.</a:t>
            </a:r>
            <a:endParaRPr lang="en-US" sz="1150" dirty="0"/>
          </a:p>
        </p:txBody>
      </p:sp>
      <p:graphicFrame>
        <p:nvGraphicFramePr>
          <p:cNvPr id="7" name="Chart 1" descr=""/>
          <p:cNvGraphicFramePr/>
          <p:nvPr/>
        </p:nvGraphicFramePr>
        <p:xfrm>
          <a:off x="7269480" y="1691640"/>
          <a:ext cx="4160520" cy="338328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7269480" y="5166360"/>
            <a:ext cx="4160520" cy="777240"/>
          </a:xfrm>
          <a:prstGeom prst="rect">
            <a:avLst/>
          </a:prstGeom>
          <a:noFill/>
          <a:ln/>
        </p:spPr>
        <p:txBody>
          <a:bodyPr wrap="square" rtlCol="0" anchor="ctr"/>
          <a:lstStyle/>
          <a:p>
            <a:pPr indent="0" marL="0">
              <a:lnSpc>
                <a:spcPct val="115000"/>
              </a:lnSpc>
              <a:buNone/>
            </a:pPr>
            <a:r>
              <a:rPr lang="en-US" sz="1150" i="1" dirty="0">
                <a:solidFill>
                  <a:srgbClr val="6B7686"/>
                </a:solidFill>
                <a:latin typeface="Calibri" pitchFamily="34" charset="0"/>
                <a:ea typeface="Calibri" pitchFamily="34" charset="-122"/>
                <a:cs typeface="Calibri" pitchFamily="34" charset="-120"/>
              </a:rPr>
              <a:t>Weekday viewing outweighs weekend by more than 2 to 1.</a:t>
            </a:r>
            <a:endParaRPr lang="en-US" sz="1150" dirty="0"/>
          </a:p>
        </p:txBody>
      </p:sp>
      <p:sp>
        <p:nvSpPr>
          <p:cNvPr id="9" name="Shape 5"/>
          <p:cNvSpPr/>
          <p:nvPr/>
        </p:nvSpPr>
        <p:spPr>
          <a:xfrm>
            <a:off x="548640" y="6053328"/>
            <a:ext cx="10881360" cy="502920"/>
          </a:xfrm>
          <a:prstGeom prst="roundRect">
            <a:avLst>
              <a:gd name="adj" fmla="val 10909"/>
            </a:avLst>
          </a:prstGeom>
          <a:solidFill>
            <a:srgbClr val="FFFFFF"/>
          </a:solidFill>
          <a:ln w="12700">
            <a:solidFill>
              <a:srgbClr val="E1E5EA"/>
            </a:solidFill>
            <a:prstDash val="solid"/>
          </a:ln>
        </p:spPr>
      </p:sp>
      <p:sp>
        <p:nvSpPr>
          <p:cNvPr id="10" name="Text 6"/>
          <p:cNvSpPr/>
          <p:nvPr/>
        </p:nvSpPr>
        <p:spPr>
          <a:xfrm>
            <a:off x="777240" y="6053328"/>
            <a:ext cx="10424160" cy="502920"/>
          </a:xfrm>
          <a:prstGeom prst="rect">
            <a:avLst/>
          </a:prstGeom>
          <a:noFill/>
          <a:ln/>
        </p:spPr>
        <p:txBody>
          <a:bodyPr wrap="square"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Takeaway:  </a:t>
            </a:r>
            <a:pPr indent="0" marL="0">
              <a:buNone/>
            </a:pPr>
            <a:r>
              <a:rPr lang="en-US" sz="1200" dirty="0">
                <a:solidFill>
                  <a:srgbClr val="1C2733"/>
                </a:solidFill>
                <a:latin typeface="Calibri" pitchFamily="34" charset="0"/>
                <a:ea typeface="Calibri" pitchFamily="34" charset="-122"/>
                <a:cs typeface="Calibri" pitchFamily="34" charset="-120"/>
              </a:rPr>
              <a:t>afternoon and evening dominate viewing, and weekdays still out-perform weekends in total volume.</a:t>
            </a:r>
            <a:endParaRPr lang="en-US" sz="1200" dirty="0"/>
          </a:p>
        </p:txBody>
      </p:sp>
      <p:sp>
        <p:nvSpPr>
          <p:cNvPr id="11" name="Text 7"/>
          <p:cNvSpPr/>
          <p:nvPr/>
        </p:nvSpPr>
        <p:spPr>
          <a:xfrm>
            <a:off x="11430000" y="6473952"/>
            <a:ext cx="640080" cy="274320"/>
          </a:xfrm>
          <a:prstGeom prst="rect">
            <a:avLst/>
          </a:prstGeom>
          <a:noFill/>
          <a:ln/>
        </p:spPr>
        <p:txBody>
          <a:bodyPr wrap="square" rtlCol="0" anchor="ctr"/>
          <a:lstStyle/>
          <a:p>
            <a:pPr algn="r" indent="0" marL="0">
              <a:buNone/>
            </a:pPr>
            <a:r>
              <a:rPr lang="en-US" sz="1000" dirty="0">
                <a:solidFill>
                  <a:srgbClr val="6B7686"/>
                </a:solidFill>
                <a:latin typeface="Calibri" pitchFamily="34" charset="0"/>
                <a:ea typeface="Calibri" pitchFamily="34" charset="-122"/>
                <a:cs typeface="Calibri" pitchFamily="34" charset="-120"/>
              </a:rPr>
              <a:t>6 / 12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BRIGHTTV  ·  VIEWERSHIP CASE STUDY</a:t>
            </a:r>
            <a:endParaRPr lang="en-US" sz="1100" dirty="0"/>
          </a:p>
        </p:txBody>
      </p:sp>
      <p:sp>
        <p:nvSpPr>
          <p:cNvPr id="3" name="Text 1"/>
          <p:cNvSpPr/>
          <p:nvPr/>
        </p:nvSpPr>
        <p:spPr>
          <a:xfrm>
            <a:off x="548640" y="566928"/>
            <a:ext cx="1051560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Viewer behaviour — the weekly rhythm</a:t>
            </a:r>
            <a:endParaRPr lang="en-US" sz="3000" dirty="0"/>
          </a:p>
        </p:txBody>
      </p:sp>
      <p:sp>
        <p:nvSpPr>
          <p:cNvPr id="4" name="Text 2"/>
          <p:cNvSpPr/>
          <p:nvPr/>
        </p:nvSpPr>
        <p:spPr>
          <a:xfrm>
            <a:off x="548640" y="1170432"/>
            <a:ext cx="10789920" cy="365760"/>
          </a:xfrm>
          <a:prstGeom prst="rect">
            <a:avLst/>
          </a:prstGeom>
          <a:noFill/>
          <a:ln/>
        </p:spPr>
        <p:txBody>
          <a:bodyPr wrap="square" rtlCol="0" anchor="ctr"/>
          <a:lstStyle/>
          <a:p>
            <a:pPr indent="0" marL="0">
              <a:buNone/>
            </a:pPr>
            <a:r>
              <a:rPr lang="en-US" sz="1300" i="1" dirty="0">
                <a:solidFill>
                  <a:srgbClr val="6B7686"/>
                </a:solidFill>
                <a:latin typeface="Calibri" pitchFamily="34" charset="0"/>
                <a:ea typeface="Calibri" pitchFamily="34" charset="-122"/>
                <a:cs typeface="Calibri" pitchFamily="34" charset="-120"/>
              </a:rPr>
              <a:t>Monday is consistently the quietest day</a:t>
            </a:r>
            <a:endParaRPr lang="en-US" sz="1300" dirty="0"/>
          </a:p>
        </p:txBody>
      </p:sp>
      <p:graphicFrame>
        <p:nvGraphicFramePr>
          <p:cNvPr id="5" name="Chart 0" descr=""/>
          <p:cNvGraphicFramePr/>
          <p:nvPr/>
        </p:nvGraphicFramePr>
        <p:xfrm>
          <a:off x="548640" y="1691640"/>
          <a:ext cx="10881360" cy="3429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48640" y="5212080"/>
            <a:ext cx="10881360" cy="685800"/>
          </a:xfrm>
          <a:prstGeom prst="rect">
            <a:avLst/>
          </a:prstGeom>
          <a:noFill/>
          <a:ln/>
        </p:spPr>
        <p:txBody>
          <a:bodyPr wrap="square" rtlCol="0" anchor="ctr"/>
          <a:lstStyle/>
          <a:p>
            <a:pPr indent="0" marL="0">
              <a:lnSpc>
                <a:spcPct val="115000"/>
              </a:lnSpc>
              <a:buNone/>
            </a:pPr>
            <a:r>
              <a:rPr lang="en-US" sz="1150" i="1" dirty="0">
                <a:solidFill>
                  <a:srgbClr val="6B7686"/>
                </a:solidFill>
                <a:latin typeface="Calibri" pitchFamily="34" charset="0"/>
                <a:ea typeface="Calibri" pitchFamily="34" charset="-122"/>
                <a:cs typeface="Calibri" pitchFamily="34" charset="-120"/>
              </a:rPr>
              <a:t>Bars sorted Monday through Sunday; Monday (highlighted) has noticeably fewer records than any other day — about 26% below the next-lowest day.</a:t>
            </a:r>
            <a:endParaRPr lang="en-US" sz="1150" dirty="0"/>
          </a:p>
        </p:txBody>
      </p:sp>
      <p:sp>
        <p:nvSpPr>
          <p:cNvPr id="7" name="Shape 4"/>
          <p:cNvSpPr/>
          <p:nvPr/>
        </p:nvSpPr>
        <p:spPr>
          <a:xfrm>
            <a:off x="548640" y="6053328"/>
            <a:ext cx="10881360" cy="502920"/>
          </a:xfrm>
          <a:prstGeom prst="roundRect">
            <a:avLst>
              <a:gd name="adj" fmla="val 10909"/>
            </a:avLst>
          </a:prstGeom>
          <a:solidFill>
            <a:srgbClr val="FFFFFF"/>
          </a:solidFill>
          <a:ln w="12700">
            <a:solidFill>
              <a:srgbClr val="E1E5EA"/>
            </a:solidFill>
            <a:prstDash val="solid"/>
          </a:ln>
        </p:spPr>
      </p:sp>
      <p:sp>
        <p:nvSpPr>
          <p:cNvPr id="8" name="Text 5"/>
          <p:cNvSpPr/>
          <p:nvPr/>
        </p:nvSpPr>
        <p:spPr>
          <a:xfrm>
            <a:off x="777240" y="6053328"/>
            <a:ext cx="10424160" cy="502920"/>
          </a:xfrm>
          <a:prstGeom prst="rect">
            <a:avLst/>
          </a:prstGeom>
          <a:noFill/>
          <a:ln/>
        </p:spPr>
        <p:txBody>
          <a:bodyPr wrap="square"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Takeaway:  </a:t>
            </a:r>
            <a:pPr indent="0" marL="0">
              <a:buNone/>
            </a:pPr>
            <a:r>
              <a:rPr lang="en-US" sz="1200" dirty="0">
                <a:solidFill>
                  <a:srgbClr val="1C2733"/>
                </a:solidFill>
                <a:latin typeface="Calibri" pitchFamily="34" charset="0"/>
                <a:ea typeface="Calibri" pitchFamily="34" charset="-122"/>
                <a:cs typeface="Calibri" pitchFamily="34" charset="-120"/>
              </a:rPr>
              <a:t>Monday has the fewest viewing records (973) of any day — a clear target for a content or promotion boost.</a:t>
            </a:r>
            <a:endParaRPr lang="en-US" sz="1200" dirty="0"/>
          </a:p>
        </p:txBody>
      </p:sp>
      <p:sp>
        <p:nvSpPr>
          <p:cNvPr id="9" name="Text 6"/>
          <p:cNvSpPr/>
          <p:nvPr/>
        </p:nvSpPr>
        <p:spPr>
          <a:xfrm>
            <a:off x="11430000" y="6473952"/>
            <a:ext cx="640080" cy="274320"/>
          </a:xfrm>
          <a:prstGeom prst="rect">
            <a:avLst/>
          </a:prstGeom>
          <a:noFill/>
          <a:ln/>
        </p:spPr>
        <p:txBody>
          <a:bodyPr wrap="square" rtlCol="0" anchor="ctr"/>
          <a:lstStyle/>
          <a:p>
            <a:pPr algn="r" indent="0" marL="0">
              <a:buNone/>
            </a:pPr>
            <a:r>
              <a:rPr lang="en-US" sz="1000" dirty="0">
                <a:solidFill>
                  <a:srgbClr val="6B7686"/>
                </a:solidFill>
                <a:latin typeface="Calibri" pitchFamily="34" charset="0"/>
                <a:ea typeface="Calibri" pitchFamily="34" charset="-122"/>
                <a:cs typeface="Calibri" pitchFamily="34" charset="-120"/>
              </a:rPr>
              <a:t>7 / 12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BRIGHTTV  ·  VIEWERSHIP CASE STUDY</a:t>
            </a:r>
            <a:endParaRPr lang="en-US" sz="1100" dirty="0"/>
          </a:p>
        </p:txBody>
      </p:sp>
      <p:sp>
        <p:nvSpPr>
          <p:cNvPr id="3" name="Text 1"/>
          <p:cNvSpPr/>
          <p:nvPr/>
        </p:nvSpPr>
        <p:spPr>
          <a:xfrm>
            <a:off x="548640" y="566928"/>
            <a:ext cx="1051560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What factors influence consumption?</a:t>
            </a:r>
            <a:endParaRPr lang="en-US" sz="3000" dirty="0"/>
          </a:p>
        </p:txBody>
      </p:sp>
      <p:sp>
        <p:nvSpPr>
          <p:cNvPr id="4" name="Text 2"/>
          <p:cNvSpPr/>
          <p:nvPr/>
        </p:nvSpPr>
        <p:spPr>
          <a:xfrm>
            <a:off x="548640" y="1170432"/>
            <a:ext cx="10789920" cy="365760"/>
          </a:xfrm>
          <a:prstGeom prst="rect">
            <a:avLst/>
          </a:prstGeom>
          <a:noFill/>
          <a:ln/>
        </p:spPr>
        <p:txBody>
          <a:bodyPr wrap="square" rtlCol="0" anchor="ctr"/>
          <a:lstStyle/>
          <a:p>
            <a:pPr indent="0" marL="0">
              <a:buNone/>
            </a:pPr>
            <a:r>
              <a:rPr lang="en-US" sz="1300" i="1" dirty="0">
                <a:solidFill>
                  <a:srgbClr val="6B7686"/>
                </a:solidFill>
                <a:latin typeface="Calibri" pitchFamily="34" charset="0"/>
                <a:ea typeface="Calibri" pitchFamily="34" charset="-122"/>
                <a:cs typeface="Calibri" pitchFamily="34" charset="-120"/>
              </a:rPr>
              <a:t>Four patterns show up consistently across the data</a:t>
            </a:r>
            <a:endParaRPr lang="en-US" sz="1300" dirty="0"/>
          </a:p>
        </p:txBody>
      </p:sp>
      <p:sp>
        <p:nvSpPr>
          <p:cNvPr id="5" name="Shape 3"/>
          <p:cNvSpPr/>
          <p:nvPr/>
        </p:nvSpPr>
        <p:spPr>
          <a:xfrm>
            <a:off x="548640" y="1783080"/>
            <a:ext cx="10881360" cy="987552"/>
          </a:xfrm>
          <a:prstGeom prst="roundRect">
            <a:avLst>
              <a:gd name="adj" fmla="val 5556"/>
            </a:avLst>
          </a:prstGeom>
          <a:solidFill>
            <a:srgbClr val="FFFFFF"/>
          </a:solidFill>
          <a:ln w="12700">
            <a:solidFill>
              <a:srgbClr val="E1E5EA"/>
            </a:solidFill>
            <a:prstDash val="solid"/>
          </a:ln>
        </p:spPr>
      </p:sp>
      <p:sp>
        <p:nvSpPr>
          <p:cNvPr id="6" name="Shape 4"/>
          <p:cNvSpPr/>
          <p:nvPr/>
        </p:nvSpPr>
        <p:spPr>
          <a:xfrm>
            <a:off x="777240" y="1984248"/>
            <a:ext cx="566928" cy="566928"/>
          </a:xfrm>
          <a:prstGeom prst="ellipse">
            <a:avLst/>
          </a:prstGeom>
          <a:solidFill>
            <a:srgbClr val="065A82"/>
          </a:solidFill>
          <a:ln/>
        </p:spPr>
      </p:sp>
      <p:sp>
        <p:nvSpPr>
          <p:cNvPr id="7" name="Text 5"/>
          <p:cNvSpPr/>
          <p:nvPr/>
        </p:nvSpPr>
        <p:spPr>
          <a:xfrm>
            <a:off x="777240" y="1984248"/>
            <a:ext cx="566928" cy="56692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600200" y="1892808"/>
            <a:ext cx="2377440" cy="777240"/>
          </a:xfrm>
          <a:prstGeom prst="rect">
            <a:avLst/>
          </a:prstGeom>
          <a:noFill/>
          <a:ln/>
        </p:spPr>
        <p:txBody>
          <a:bodyPr wrap="square"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Time of day</a:t>
            </a:r>
            <a:endParaRPr lang="en-US" sz="1500" dirty="0"/>
          </a:p>
        </p:txBody>
      </p:sp>
      <p:sp>
        <p:nvSpPr>
          <p:cNvPr id="9" name="Text 7"/>
          <p:cNvSpPr/>
          <p:nvPr/>
        </p:nvSpPr>
        <p:spPr>
          <a:xfrm>
            <a:off x="4114800" y="1892808"/>
            <a:ext cx="7086600" cy="777240"/>
          </a:xfrm>
          <a:prstGeom prst="rect">
            <a:avLst/>
          </a:prstGeom>
          <a:noFill/>
          <a:ln/>
        </p:spPr>
        <p:txBody>
          <a:bodyPr wrap="square" rtlCol="0" anchor="ctr"/>
          <a:lstStyle/>
          <a:p>
            <a:pPr indent="0" marL="0">
              <a:lnSpc>
                <a:spcPct val="110000"/>
              </a:lnSpc>
              <a:buNone/>
            </a:pPr>
            <a:r>
              <a:rPr lang="en-US" sz="1200" dirty="0">
                <a:solidFill>
                  <a:srgbClr val="1C2733"/>
                </a:solidFill>
                <a:latin typeface="Calibri" pitchFamily="34" charset="0"/>
                <a:ea typeface="Calibri" pitchFamily="34" charset="-122"/>
                <a:cs typeface="Calibri" pitchFamily="34" charset="-120"/>
              </a:rPr>
              <a:t>Afternoon and evening together account for 5865 of 9983 records — the clear engagement window.</a:t>
            </a:r>
            <a:endParaRPr lang="en-US" sz="1200" dirty="0"/>
          </a:p>
        </p:txBody>
      </p:sp>
      <p:sp>
        <p:nvSpPr>
          <p:cNvPr id="10" name="Shape 8"/>
          <p:cNvSpPr/>
          <p:nvPr/>
        </p:nvSpPr>
        <p:spPr>
          <a:xfrm>
            <a:off x="548640" y="2916936"/>
            <a:ext cx="10881360" cy="987552"/>
          </a:xfrm>
          <a:prstGeom prst="roundRect">
            <a:avLst>
              <a:gd name="adj" fmla="val 5556"/>
            </a:avLst>
          </a:prstGeom>
          <a:solidFill>
            <a:srgbClr val="FFFFFF"/>
          </a:solidFill>
          <a:ln w="12700">
            <a:solidFill>
              <a:srgbClr val="E1E5EA"/>
            </a:solidFill>
            <a:prstDash val="solid"/>
          </a:ln>
        </p:spPr>
      </p:sp>
      <p:sp>
        <p:nvSpPr>
          <p:cNvPr id="11" name="Shape 9"/>
          <p:cNvSpPr/>
          <p:nvPr/>
        </p:nvSpPr>
        <p:spPr>
          <a:xfrm>
            <a:off x="777240" y="3118104"/>
            <a:ext cx="566928" cy="566928"/>
          </a:xfrm>
          <a:prstGeom prst="ellipse">
            <a:avLst/>
          </a:prstGeom>
          <a:solidFill>
            <a:srgbClr val="1C7293"/>
          </a:solidFill>
          <a:ln/>
        </p:spPr>
      </p:sp>
      <p:sp>
        <p:nvSpPr>
          <p:cNvPr id="12" name="Text 10"/>
          <p:cNvSpPr/>
          <p:nvPr/>
        </p:nvSpPr>
        <p:spPr>
          <a:xfrm>
            <a:off x="777240" y="3118104"/>
            <a:ext cx="566928" cy="56692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600200" y="3026664"/>
            <a:ext cx="2377440" cy="777240"/>
          </a:xfrm>
          <a:prstGeom prst="rect">
            <a:avLst/>
          </a:prstGeom>
          <a:noFill/>
          <a:ln/>
        </p:spPr>
        <p:txBody>
          <a:bodyPr wrap="square"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Day of week</a:t>
            </a:r>
            <a:endParaRPr lang="en-US" sz="1500" dirty="0"/>
          </a:p>
        </p:txBody>
      </p:sp>
      <p:sp>
        <p:nvSpPr>
          <p:cNvPr id="14" name="Text 12"/>
          <p:cNvSpPr/>
          <p:nvPr/>
        </p:nvSpPr>
        <p:spPr>
          <a:xfrm>
            <a:off x="4114800" y="3026664"/>
            <a:ext cx="7086600" cy="777240"/>
          </a:xfrm>
          <a:prstGeom prst="rect">
            <a:avLst/>
          </a:prstGeom>
          <a:noFill/>
          <a:ln/>
        </p:spPr>
        <p:txBody>
          <a:bodyPr wrap="square" rtlCol="0" anchor="ctr"/>
          <a:lstStyle/>
          <a:p>
            <a:pPr indent="0" marL="0">
              <a:lnSpc>
                <a:spcPct val="110000"/>
              </a:lnSpc>
              <a:buNone/>
            </a:pPr>
            <a:r>
              <a:rPr lang="en-US" sz="1200" dirty="0">
                <a:solidFill>
                  <a:srgbClr val="1C2733"/>
                </a:solidFill>
                <a:latin typeface="Calibri" pitchFamily="34" charset="0"/>
                <a:ea typeface="Calibri" pitchFamily="34" charset="-122"/>
                <a:cs typeface="Calibri" pitchFamily="34" charset="-120"/>
              </a:rPr>
              <a:t>Weekday viewing outweighs weekend, and Monday is the weakest day of all — a habit-driven, not leisure-driven, pattern.</a:t>
            </a:r>
            <a:endParaRPr lang="en-US" sz="1200" dirty="0"/>
          </a:p>
        </p:txBody>
      </p:sp>
      <p:sp>
        <p:nvSpPr>
          <p:cNvPr id="15" name="Shape 13"/>
          <p:cNvSpPr/>
          <p:nvPr/>
        </p:nvSpPr>
        <p:spPr>
          <a:xfrm>
            <a:off x="548640" y="4050792"/>
            <a:ext cx="10881360" cy="987552"/>
          </a:xfrm>
          <a:prstGeom prst="roundRect">
            <a:avLst>
              <a:gd name="adj" fmla="val 5556"/>
            </a:avLst>
          </a:prstGeom>
          <a:solidFill>
            <a:srgbClr val="FFFFFF"/>
          </a:solidFill>
          <a:ln w="12700">
            <a:solidFill>
              <a:srgbClr val="E1E5EA"/>
            </a:solidFill>
            <a:prstDash val="solid"/>
          </a:ln>
        </p:spPr>
      </p:sp>
      <p:sp>
        <p:nvSpPr>
          <p:cNvPr id="16" name="Shape 14"/>
          <p:cNvSpPr/>
          <p:nvPr/>
        </p:nvSpPr>
        <p:spPr>
          <a:xfrm>
            <a:off x="777240" y="4251960"/>
            <a:ext cx="566928" cy="566928"/>
          </a:xfrm>
          <a:prstGeom prst="ellipse">
            <a:avLst/>
          </a:prstGeom>
          <a:solidFill>
            <a:srgbClr val="D8724A"/>
          </a:solidFill>
          <a:ln/>
        </p:spPr>
      </p:sp>
      <p:sp>
        <p:nvSpPr>
          <p:cNvPr id="17" name="Text 15"/>
          <p:cNvSpPr/>
          <p:nvPr/>
        </p:nvSpPr>
        <p:spPr>
          <a:xfrm>
            <a:off x="777240" y="4251960"/>
            <a:ext cx="566928" cy="56692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1600200" y="4160520"/>
            <a:ext cx="2377440" cy="777240"/>
          </a:xfrm>
          <a:prstGeom prst="rect">
            <a:avLst/>
          </a:prstGeom>
          <a:noFill/>
          <a:ln/>
        </p:spPr>
        <p:txBody>
          <a:bodyPr wrap="square"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Content type</a:t>
            </a:r>
            <a:endParaRPr lang="en-US" sz="1500" dirty="0"/>
          </a:p>
        </p:txBody>
      </p:sp>
      <p:sp>
        <p:nvSpPr>
          <p:cNvPr id="19" name="Text 17"/>
          <p:cNvSpPr/>
          <p:nvPr/>
        </p:nvSpPr>
        <p:spPr>
          <a:xfrm>
            <a:off x="4114800" y="4160520"/>
            <a:ext cx="7086600" cy="777240"/>
          </a:xfrm>
          <a:prstGeom prst="rect">
            <a:avLst/>
          </a:prstGeom>
          <a:noFill/>
          <a:ln/>
        </p:spPr>
        <p:txBody>
          <a:bodyPr wrap="square" rtlCol="0" anchor="ctr"/>
          <a:lstStyle/>
          <a:p>
            <a:pPr indent="0" marL="0">
              <a:lnSpc>
                <a:spcPct val="110000"/>
              </a:lnSpc>
              <a:buNone/>
            </a:pPr>
            <a:r>
              <a:rPr lang="en-US" sz="1200" dirty="0">
                <a:solidFill>
                  <a:srgbClr val="1C2733"/>
                </a:solidFill>
                <a:latin typeface="Calibri" pitchFamily="34" charset="0"/>
                <a:ea typeface="Calibri" pitchFamily="34" charset="-122"/>
                <a:cs typeface="Calibri" pitchFamily="34" charset="-120"/>
              </a:rPr>
              <a:t>Live Events and ICC Cricket World Cup 2011 dominate both reach and duration — live, unpredictable content keeps people watching longer.</a:t>
            </a:r>
            <a:endParaRPr lang="en-US" sz="1200" dirty="0"/>
          </a:p>
        </p:txBody>
      </p:sp>
      <p:sp>
        <p:nvSpPr>
          <p:cNvPr id="20" name="Shape 18"/>
          <p:cNvSpPr/>
          <p:nvPr/>
        </p:nvSpPr>
        <p:spPr>
          <a:xfrm>
            <a:off x="548640" y="5184648"/>
            <a:ext cx="10881360" cy="987552"/>
          </a:xfrm>
          <a:prstGeom prst="roundRect">
            <a:avLst>
              <a:gd name="adj" fmla="val 5556"/>
            </a:avLst>
          </a:prstGeom>
          <a:solidFill>
            <a:srgbClr val="FFFFFF"/>
          </a:solidFill>
          <a:ln w="12700">
            <a:solidFill>
              <a:srgbClr val="E1E5EA"/>
            </a:solidFill>
            <a:prstDash val="solid"/>
          </a:ln>
        </p:spPr>
      </p:sp>
      <p:sp>
        <p:nvSpPr>
          <p:cNvPr id="21" name="Shape 19"/>
          <p:cNvSpPr/>
          <p:nvPr/>
        </p:nvSpPr>
        <p:spPr>
          <a:xfrm>
            <a:off x="777240" y="5385816"/>
            <a:ext cx="566928" cy="566928"/>
          </a:xfrm>
          <a:prstGeom prst="ellipse">
            <a:avLst/>
          </a:prstGeom>
          <a:solidFill>
            <a:srgbClr val="21295C"/>
          </a:solidFill>
          <a:ln/>
        </p:spPr>
      </p:sp>
      <p:sp>
        <p:nvSpPr>
          <p:cNvPr id="22" name="Text 20"/>
          <p:cNvSpPr/>
          <p:nvPr/>
        </p:nvSpPr>
        <p:spPr>
          <a:xfrm>
            <a:off x="777240" y="5385816"/>
            <a:ext cx="566928" cy="56692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3" name="Text 21"/>
          <p:cNvSpPr/>
          <p:nvPr/>
        </p:nvSpPr>
        <p:spPr>
          <a:xfrm>
            <a:off x="1600200" y="5294376"/>
            <a:ext cx="2377440" cy="777240"/>
          </a:xfrm>
          <a:prstGeom prst="rect">
            <a:avLst/>
          </a:prstGeom>
          <a:noFill/>
          <a:ln/>
        </p:spPr>
        <p:txBody>
          <a:bodyPr wrap="square"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Audience profile</a:t>
            </a:r>
            <a:endParaRPr lang="en-US" sz="1500" dirty="0"/>
          </a:p>
        </p:txBody>
      </p:sp>
      <p:sp>
        <p:nvSpPr>
          <p:cNvPr id="24" name="Text 22"/>
          <p:cNvSpPr/>
          <p:nvPr/>
        </p:nvSpPr>
        <p:spPr>
          <a:xfrm>
            <a:off x="4114800" y="5294376"/>
            <a:ext cx="7086600" cy="777240"/>
          </a:xfrm>
          <a:prstGeom prst="rect">
            <a:avLst/>
          </a:prstGeom>
          <a:noFill/>
          <a:ln/>
        </p:spPr>
        <p:txBody>
          <a:bodyPr wrap="square" rtlCol="0" anchor="ctr"/>
          <a:lstStyle/>
          <a:p>
            <a:pPr indent="0" marL="0">
              <a:lnSpc>
                <a:spcPct val="110000"/>
              </a:lnSpc>
              <a:buNone/>
            </a:pPr>
            <a:r>
              <a:rPr lang="en-US" sz="1200" dirty="0">
                <a:solidFill>
                  <a:srgbClr val="1C2733"/>
                </a:solidFill>
                <a:latin typeface="Calibri" pitchFamily="34" charset="0"/>
                <a:ea typeface="Calibri" pitchFamily="34" charset="-122"/>
                <a:cs typeface="Calibri" pitchFamily="34" charset="-120"/>
              </a:rPr>
              <a:t>Youth (20–35), male viewers concentrated in Gauteng and Western Cape make up the bulk of consumption.</a:t>
            </a:r>
            <a:endParaRPr lang="en-US" sz="1200" dirty="0"/>
          </a:p>
        </p:txBody>
      </p:sp>
      <p:sp>
        <p:nvSpPr>
          <p:cNvPr id="25" name="Text 23"/>
          <p:cNvSpPr/>
          <p:nvPr/>
        </p:nvSpPr>
        <p:spPr>
          <a:xfrm>
            <a:off x="11430000" y="6473952"/>
            <a:ext cx="640080" cy="274320"/>
          </a:xfrm>
          <a:prstGeom prst="rect">
            <a:avLst/>
          </a:prstGeom>
          <a:noFill/>
          <a:ln/>
        </p:spPr>
        <p:txBody>
          <a:bodyPr wrap="square" rtlCol="0" anchor="ctr"/>
          <a:lstStyle/>
          <a:p>
            <a:pPr algn="r" indent="0" marL="0">
              <a:buNone/>
            </a:pPr>
            <a:r>
              <a:rPr lang="en-US" sz="1000" dirty="0">
                <a:solidFill>
                  <a:srgbClr val="6B7686"/>
                </a:solidFill>
                <a:latin typeface="Calibri" pitchFamily="34" charset="0"/>
                <a:ea typeface="Calibri" pitchFamily="34" charset="-122"/>
                <a:cs typeface="Calibri" pitchFamily="34" charset="-120"/>
              </a:rPr>
              <a:t>8 / 12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BRIGHTTV  ·  VIEWERSHIP CASE STUDY</a:t>
            </a:r>
            <a:endParaRPr lang="en-US" sz="1100" dirty="0"/>
          </a:p>
        </p:txBody>
      </p:sp>
      <p:sp>
        <p:nvSpPr>
          <p:cNvPr id="3" name="Text 1"/>
          <p:cNvSpPr/>
          <p:nvPr/>
        </p:nvSpPr>
        <p:spPr>
          <a:xfrm>
            <a:off x="548640" y="566928"/>
            <a:ext cx="1051560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Audience segments</a:t>
            </a:r>
            <a:endParaRPr lang="en-US" sz="3000" dirty="0"/>
          </a:p>
        </p:txBody>
      </p:sp>
      <p:sp>
        <p:nvSpPr>
          <p:cNvPr id="4" name="Text 2"/>
          <p:cNvSpPr/>
          <p:nvPr/>
        </p:nvSpPr>
        <p:spPr>
          <a:xfrm>
            <a:off x="548640" y="1170432"/>
            <a:ext cx="10789920" cy="365760"/>
          </a:xfrm>
          <a:prstGeom prst="rect">
            <a:avLst/>
          </a:prstGeom>
          <a:noFill/>
          <a:ln/>
        </p:spPr>
        <p:txBody>
          <a:bodyPr wrap="square" rtlCol="0" anchor="ctr"/>
          <a:lstStyle/>
          <a:p>
            <a:pPr indent="0" marL="0">
              <a:buNone/>
            </a:pPr>
            <a:r>
              <a:rPr lang="en-US" sz="1300" i="1" dirty="0">
                <a:solidFill>
                  <a:srgbClr val="6B7686"/>
                </a:solidFill>
                <a:latin typeface="Calibri" pitchFamily="34" charset="0"/>
                <a:ea typeface="Calibri" pitchFamily="34" charset="-122"/>
                <a:cs typeface="Calibri" pitchFamily="34" charset="-120"/>
              </a:rPr>
              <a:t>Who is watching — region and age</a:t>
            </a:r>
            <a:endParaRPr lang="en-US" sz="1300" dirty="0"/>
          </a:p>
        </p:txBody>
      </p:sp>
      <p:graphicFrame>
        <p:nvGraphicFramePr>
          <p:cNvPr id="5" name="Chart 0" descr=""/>
          <p:cNvGraphicFramePr/>
          <p:nvPr/>
        </p:nvGraphicFramePr>
        <p:xfrm>
          <a:off x="548640" y="1691640"/>
          <a:ext cx="5212080" cy="3291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48640" y="5257800"/>
            <a:ext cx="5212080" cy="685800"/>
          </a:xfrm>
          <a:prstGeom prst="rect">
            <a:avLst/>
          </a:prstGeom>
          <a:noFill/>
          <a:ln/>
        </p:spPr>
        <p:txBody>
          <a:bodyPr wrap="square" rtlCol="0" anchor="ctr"/>
          <a:lstStyle/>
          <a:p>
            <a:pPr indent="0" marL="0">
              <a:lnSpc>
                <a:spcPct val="115000"/>
              </a:lnSpc>
              <a:buNone/>
            </a:pPr>
            <a:r>
              <a:rPr lang="en-US" sz="1150" i="1" dirty="0">
                <a:solidFill>
                  <a:srgbClr val="6B7686"/>
                </a:solidFill>
                <a:latin typeface="Calibri" pitchFamily="34" charset="0"/>
                <a:ea typeface="Calibri" pitchFamily="34" charset="-122"/>
                <a:cs typeface="Calibri" pitchFamily="34" charset="-120"/>
              </a:rPr>
              <a:t>Gauteng and Western Cape together account for just over half of all viewing records.</a:t>
            </a:r>
            <a:endParaRPr lang="en-US" sz="1150" dirty="0"/>
          </a:p>
        </p:txBody>
      </p:sp>
      <p:graphicFrame>
        <p:nvGraphicFramePr>
          <p:cNvPr id="7" name="Chart 1" descr=""/>
          <p:cNvGraphicFramePr/>
          <p:nvPr/>
        </p:nvGraphicFramePr>
        <p:xfrm>
          <a:off x="6035040" y="1691640"/>
          <a:ext cx="5394960" cy="329184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6035040" y="5257800"/>
            <a:ext cx="5394960" cy="685800"/>
          </a:xfrm>
          <a:prstGeom prst="rect">
            <a:avLst/>
          </a:prstGeom>
          <a:noFill/>
          <a:ln/>
        </p:spPr>
        <p:txBody>
          <a:bodyPr wrap="square" rtlCol="0" anchor="ctr"/>
          <a:lstStyle/>
          <a:p>
            <a:pPr indent="0" marL="0">
              <a:lnSpc>
                <a:spcPct val="115000"/>
              </a:lnSpc>
              <a:buNone/>
            </a:pPr>
            <a:r>
              <a:rPr lang="en-US" sz="1150" i="1" dirty="0">
                <a:solidFill>
                  <a:srgbClr val="6B7686"/>
                </a:solidFill>
                <a:latin typeface="Calibri" pitchFamily="34" charset="0"/>
                <a:ea typeface="Calibri" pitchFamily="34" charset="-122"/>
                <a:cs typeface="Calibri" pitchFamily="34" charset="-120"/>
              </a:rPr>
              <a:t>Youth (20-35) drives nearly double the volume of the next-largest group, Adult.</a:t>
            </a:r>
            <a:endParaRPr lang="en-US" sz="1150" dirty="0"/>
          </a:p>
        </p:txBody>
      </p:sp>
      <p:sp>
        <p:nvSpPr>
          <p:cNvPr id="9" name="Shape 5"/>
          <p:cNvSpPr/>
          <p:nvPr/>
        </p:nvSpPr>
        <p:spPr>
          <a:xfrm>
            <a:off x="548640" y="6053328"/>
            <a:ext cx="10881360" cy="502920"/>
          </a:xfrm>
          <a:prstGeom prst="roundRect">
            <a:avLst>
              <a:gd name="adj" fmla="val 10909"/>
            </a:avLst>
          </a:prstGeom>
          <a:solidFill>
            <a:srgbClr val="FFFFFF"/>
          </a:solidFill>
          <a:ln w="12700">
            <a:solidFill>
              <a:srgbClr val="E1E5EA"/>
            </a:solidFill>
            <a:prstDash val="solid"/>
          </a:ln>
        </p:spPr>
      </p:sp>
      <p:sp>
        <p:nvSpPr>
          <p:cNvPr id="10" name="Text 6"/>
          <p:cNvSpPr/>
          <p:nvPr/>
        </p:nvSpPr>
        <p:spPr>
          <a:xfrm>
            <a:off x="777240" y="6053328"/>
            <a:ext cx="10424160" cy="502920"/>
          </a:xfrm>
          <a:prstGeom prst="rect">
            <a:avLst/>
          </a:prstGeom>
          <a:noFill/>
          <a:ln/>
        </p:spPr>
        <p:txBody>
          <a:bodyPr wrap="square"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Note:  </a:t>
            </a:r>
            <a:pPr indent="0" marL="0">
              <a:buNone/>
            </a:pPr>
            <a:r>
              <a:rPr lang="en-US" sz="1200" dirty="0">
                <a:solidFill>
                  <a:srgbClr val="1C2733"/>
                </a:solidFill>
                <a:latin typeface="Calibri" pitchFamily="34" charset="0"/>
                <a:ea typeface="Calibri" pitchFamily="34" charset="-122"/>
                <a:cs typeface="Calibri" pitchFamily="34" charset="-120"/>
              </a:rPr>
              <a:t>male viewers account for the large majority of records; gender is unrecorded for 261 records.</a:t>
            </a:r>
            <a:endParaRPr lang="en-US" sz="1200" dirty="0"/>
          </a:p>
        </p:txBody>
      </p:sp>
      <p:sp>
        <p:nvSpPr>
          <p:cNvPr id="11" name="Text 7"/>
          <p:cNvSpPr/>
          <p:nvPr/>
        </p:nvSpPr>
        <p:spPr>
          <a:xfrm>
            <a:off x="11430000" y="6473952"/>
            <a:ext cx="640080" cy="274320"/>
          </a:xfrm>
          <a:prstGeom prst="rect">
            <a:avLst/>
          </a:prstGeom>
          <a:noFill/>
          <a:ln/>
        </p:spPr>
        <p:txBody>
          <a:bodyPr wrap="square" rtlCol="0" anchor="ctr"/>
          <a:lstStyle/>
          <a:p>
            <a:pPr algn="r" indent="0" marL="0">
              <a:buNone/>
            </a:pPr>
            <a:r>
              <a:rPr lang="en-US" sz="1000" dirty="0">
                <a:solidFill>
                  <a:srgbClr val="6B7686"/>
                </a:solidFill>
                <a:latin typeface="Calibri" pitchFamily="34" charset="0"/>
                <a:ea typeface="Calibri" pitchFamily="34" charset="-122"/>
                <a:cs typeface="Calibri" pitchFamily="34" charset="-120"/>
              </a:rPr>
              <a:t>9 / 12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BRIGHTTV  ·  VIEWERSHIP CASE STUDY</a:t>
            </a:r>
            <a:endParaRPr lang="en-US" sz="1100" dirty="0"/>
          </a:p>
        </p:txBody>
      </p:sp>
      <p:sp>
        <p:nvSpPr>
          <p:cNvPr id="3" name="Text 1"/>
          <p:cNvSpPr/>
          <p:nvPr/>
        </p:nvSpPr>
        <p:spPr>
          <a:xfrm>
            <a:off x="548640" y="566928"/>
            <a:ext cx="1051560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Lifting the lowest-consumption day</a:t>
            </a:r>
            <a:endParaRPr lang="en-US" sz="3000" dirty="0"/>
          </a:p>
        </p:txBody>
      </p:sp>
      <p:sp>
        <p:nvSpPr>
          <p:cNvPr id="4" name="Text 2"/>
          <p:cNvSpPr/>
          <p:nvPr/>
        </p:nvSpPr>
        <p:spPr>
          <a:xfrm>
            <a:off x="548640" y="1170432"/>
            <a:ext cx="10789920" cy="365760"/>
          </a:xfrm>
          <a:prstGeom prst="rect">
            <a:avLst/>
          </a:prstGeom>
          <a:noFill/>
          <a:ln/>
        </p:spPr>
        <p:txBody>
          <a:bodyPr wrap="square" rtlCol="0" anchor="ctr"/>
          <a:lstStyle/>
          <a:p>
            <a:pPr indent="0" marL="0">
              <a:buNone/>
            </a:pPr>
            <a:r>
              <a:rPr lang="en-US" sz="1300" i="1" dirty="0">
                <a:solidFill>
                  <a:srgbClr val="6B7686"/>
                </a:solidFill>
                <a:latin typeface="Calibri" pitchFamily="34" charset="0"/>
                <a:ea typeface="Calibri" pitchFamily="34" charset="-122"/>
                <a:cs typeface="Calibri" pitchFamily="34" charset="-120"/>
              </a:rPr>
              <a:t>Monday needs a reason to tune in</a:t>
            </a:r>
            <a:endParaRPr lang="en-US" sz="1300" dirty="0"/>
          </a:p>
        </p:txBody>
      </p:sp>
      <p:sp>
        <p:nvSpPr>
          <p:cNvPr id="5" name="Shape 3"/>
          <p:cNvSpPr/>
          <p:nvPr/>
        </p:nvSpPr>
        <p:spPr>
          <a:xfrm>
            <a:off x="548640" y="1828800"/>
            <a:ext cx="10881360" cy="960120"/>
          </a:xfrm>
          <a:prstGeom prst="roundRect">
            <a:avLst>
              <a:gd name="adj" fmla="val 5714"/>
            </a:avLst>
          </a:prstGeom>
          <a:solidFill>
            <a:srgbClr val="FFFFFF"/>
          </a:solidFill>
          <a:ln w="12700">
            <a:solidFill>
              <a:srgbClr val="E1E5EA"/>
            </a:solidFill>
            <a:prstDash val="solid"/>
          </a:ln>
        </p:spPr>
      </p:sp>
      <p:sp>
        <p:nvSpPr>
          <p:cNvPr id="6" name="Shape 4"/>
          <p:cNvSpPr/>
          <p:nvPr/>
        </p:nvSpPr>
        <p:spPr>
          <a:xfrm>
            <a:off x="777240" y="2084832"/>
            <a:ext cx="457200" cy="457200"/>
          </a:xfrm>
          <a:prstGeom prst="roundRect">
            <a:avLst>
              <a:gd name="adj" fmla="val 12000"/>
            </a:avLst>
          </a:prstGeom>
          <a:solidFill>
            <a:srgbClr val="D8724A"/>
          </a:solidFill>
          <a:ln/>
        </p:spPr>
      </p:sp>
      <p:sp>
        <p:nvSpPr>
          <p:cNvPr id="7" name="Text 5"/>
          <p:cNvSpPr/>
          <p:nvPr/>
        </p:nvSpPr>
        <p:spPr>
          <a:xfrm>
            <a:off x="777240" y="2084832"/>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463040" y="1920240"/>
            <a:ext cx="9784080" cy="777240"/>
          </a:xfrm>
          <a:prstGeom prst="rect">
            <a:avLst/>
          </a:prstGeom>
          <a:noFill/>
          <a:ln/>
        </p:spPr>
        <p:txBody>
          <a:bodyPr wrap="square" rtlCol="0" anchor="ctr"/>
          <a:lstStyle/>
          <a:p>
            <a:pPr indent="0" marL="0">
              <a:lnSpc>
                <a:spcPct val="112000"/>
              </a:lnSpc>
              <a:buNone/>
            </a:pPr>
            <a:r>
              <a:rPr lang="en-US" sz="1250" dirty="0">
                <a:solidFill>
                  <a:srgbClr val="1C2733"/>
                </a:solidFill>
                <a:latin typeface="Calibri" pitchFamily="34" charset="0"/>
                <a:ea typeface="Calibri" pitchFamily="34" charset="-122"/>
                <a:cs typeface="Calibri" pitchFamily="34" charset="-120"/>
              </a:rPr>
              <a:t>Schedule a live exclusive (sport, premiere, or event) specifically on Mondays — live content already drives the longest sessions on this platform.</a:t>
            </a:r>
            <a:endParaRPr lang="en-US" sz="1250" dirty="0"/>
          </a:p>
        </p:txBody>
      </p:sp>
      <p:sp>
        <p:nvSpPr>
          <p:cNvPr id="9" name="Shape 7"/>
          <p:cNvSpPr/>
          <p:nvPr/>
        </p:nvSpPr>
        <p:spPr>
          <a:xfrm>
            <a:off x="548640" y="2926080"/>
            <a:ext cx="10881360" cy="960120"/>
          </a:xfrm>
          <a:prstGeom prst="roundRect">
            <a:avLst>
              <a:gd name="adj" fmla="val 5714"/>
            </a:avLst>
          </a:prstGeom>
          <a:solidFill>
            <a:srgbClr val="FFFFFF"/>
          </a:solidFill>
          <a:ln w="12700">
            <a:solidFill>
              <a:srgbClr val="E1E5EA"/>
            </a:solidFill>
            <a:prstDash val="solid"/>
          </a:ln>
        </p:spPr>
      </p:sp>
      <p:sp>
        <p:nvSpPr>
          <p:cNvPr id="10" name="Shape 8"/>
          <p:cNvSpPr/>
          <p:nvPr/>
        </p:nvSpPr>
        <p:spPr>
          <a:xfrm>
            <a:off x="777240" y="3182112"/>
            <a:ext cx="457200" cy="457200"/>
          </a:xfrm>
          <a:prstGeom prst="roundRect">
            <a:avLst>
              <a:gd name="adj" fmla="val 12000"/>
            </a:avLst>
          </a:prstGeom>
          <a:solidFill>
            <a:srgbClr val="D8724A"/>
          </a:solidFill>
          <a:ln/>
        </p:spPr>
      </p:sp>
      <p:sp>
        <p:nvSpPr>
          <p:cNvPr id="11" name="Text 9"/>
          <p:cNvSpPr/>
          <p:nvPr/>
        </p:nvSpPr>
        <p:spPr>
          <a:xfrm>
            <a:off x="777240" y="3182112"/>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63040" y="3017520"/>
            <a:ext cx="9784080" cy="777240"/>
          </a:xfrm>
          <a:prstGeom prst="rect">
            <a:avLst/>
          </a:prstGeom>
          <a:noFill/>
          <a:ln/>
        </p:spPr>
        <p:txBody>
          <a:bodyPr wrap="square" rtlCol="0" anchor="ctr"/>
          <a:lstStyle/>
          <a:p>
            <a:pPr indent="0" marL="0">
              <a:lnSpc>
                <a:spcPct val="112000"/>
              </a:lnSpc>
              <a:buNone/>
            </a:pPr>
            <a:r>
              <a:rPr lang="en-US" sz="1250" dirty="0">
                <a:solidFill>
                  <a:srgbClr val="1C2733"/>
                </a:solidFill>
                <a:latin typeface="Calibri" pitchFamily="34" charset="0"/>
                <a:ea typeface="Calibri" pitchFamily="34" charset="-122"/>
                <a:cs typeface="Calibri" pitchFamily="34" charset="-120"/>
              </a:rPr>
              <a:t>Push a "Monday boost" notification campaign timed for the afternoon/evening peak window, when viewers are already most likely to be engaged.</a:t>
            </a:r>
            <a:endParaRPr lang="en-US" sz="1250" dirty="0"/>
          </a:p>
        </p:txBody>
      </p:sp>
      <p:sp>
        <p:nvSpPr>
          <p:cNvPr id="13" name="Shape 11"/>
          <p:cNvSpPr/>
          <p:nvPr/>
        </p:nvSpPr>
        <p:spPr>
          <a:xfrm>
            <a:off x="548640" y="4023360"/>
            <a:ext cx="10881360" cy="960120"/>
          </a:xfrm>
          <a:prstGeom prst="roundRect">
            <a:avLst>
              <a:gd name="adj" fmla="val 5714"/>
            </a:avLst>
          </a:prstGeom>
          <a:solidFill>
            <a:srgbClr val="FFFFFF"/>
          </a:solidFill>
          <a:ln w="12700">
            <a:solidFill>
              <a:srgbClr val="E1E5EA"/>
            </a:solidFill>
            <a:prstDash val="solid"/>
          </a:ln>
        </p:spPr>
      </p:sp>
      <p:sp>
        <p:nvSpPr>
          <p:cNvPr id="14" name="Shape 12"/>
          <p:cNvSpPr/>
          <p:nvPr/>
        </p:nvSpPr>
        <p:spPr>
          <a:xfrm>
            <a:off x="777240" y="4279392"/>
            <a:ext cx="457200" cy="457200"/>
          </a:xfrm>
          <a:prstGeom prst="roundRect">
            <a:avLst>
              <a:gd name="adj" fmla="val 12000"/>
            </a:avLst>
          </a:prstGeom>
          <a:solidFill>
            <a:srgbClr val="D8724A"/>
          </a:solidFill>
          <a:ln/>
        </p:spPr>
      </p:sp>
      <p:sp>
        <p:nvSpPr>
          <p:cNvPr id="15" name="Text 13"/>
          <p:cNvSpPr/>
          <p:nvPr/>
        </p:nvSpPr>
        <p:spPr>
          <a:xfrm>
            <a:off x="777240" y="4279392"/>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463040" y="4114800"/>
            <a:ext cx="9784080" cy="777240"/>
          </a:xfrm>
          <a:prstGeom prst="rect">
            <a:avLst/>
          </a:prstGeom>
          <a:noFill/>
          <a:ln/>
        </p:spPr>
        <p:txBody>
          <a:bodyPr wrap="square" rtlCol="0" anchor="ctr"/>
          <a:lstStyle/>
          <a:p>
            <a:pPr indent="0" marL="0">
              <a:lnSpc>
                <a:spcPct val="112000"/>
              </a:lnSpc>
              <a:buNone/>
            </a:pPr>
            <a:r>
              <a:rPr lang="en-US" sz="1250" dirty="0">
                <a:solidFill>
                  <a:srgbClr val="1C2733"/>
                </a:solidFill>
                <a:latin typeface="Calibri" pitchFamily="34" charset="0"/>
                <a:ea typeface="Calibri" pitchFamily="34" charset="-122"/>
                <a:cs typeface="Calibri" pitchFamily="34" charset="-120"/>
              </a:rPr>
              <a:t>Trial short-form or catch-up content drops on Monday to convert habitual weekday viewers who are currently under-served that day.</a:t>
            </a:r>
            <a:endParaRPr lang="en-US" sz="1250" dirty="0"/>
          </a:p>
        </p:txBody>
      </p:sp>
      <p:sp>
        <p:nvSpPr>
          <p:cNvPr id="17" name="Shape 15"/>
          <p:cNvSpPr/>
          <p:nvPr/>
        </p:nvSpPr>
        <p:spPr>
          <a:xfrm>
            <a:off x="548640" y="5120640"/>
            <a:ext cx="10881360" cy="960120"/>
          </a:xfrm>
          <a:prstGeom prst="roundRect">
            <a:avLst>
              <a:gd name="adj" fmla="val 5714"/>
            </a:avLst>
          </a:prstGeom>
          <a:solidFill>
            <a:srgbClr val="FFFFFF"/>
          </a:solidFill>
          <a:ln w="12700">
            <a:solidFill>
              <a:srgbClr val="E1E5EA"/>
            </a:solidFill>
            <a:prstDash val="solid"/>
          </a:ln>
        </p:spPr>
      </p:sp>
      <p:sp>
        <p:nvSpPr>
          <p:cNvPr id="18" name="Shape 16"/>
          <p:cNvSpPr/>
          <p:nvPr/>
        </p:nvSpPr>
        <p:spPr>
          <a:xfrm>
            <a:off x="777240" y="5376672"/>
            <a:ext cx="457200" cy="457200"/>
          </a:xfrm>
          <a:prstGeom prst="roundRect">
            <a:avLst>
              <a:gd name="adj" fmla="val 12000"/>
            </a:avLst>
          </a:prstGeom>
          <a:solidFill>
            <a:srgbClr val="D8724A"/>
          </a:solidFill>
          <a:ln/>
        </p:spPr>
      </p:sp>
      <p:sp>
        <p:nvSpPr>
          <p:cNvPr id="19" name="Text 17"/>
          <p:cNvSpPr/>
          <p:nvPr/>
        </p:nvSpPr>
        <p:spPr>
          <a:xfrm>
            <a:off x="777240" y="5376672"/>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8"/>
          <p:cNvSpPr/>
          <p:nvPr/>
        </p:nvSpPr>
        <p:spPr>
          <a:xfrm>
            <a:off x="1463040" y="5212080"/>
            <a:ext cx="9784080" cy="777240"/>
          </a:xfrm>
          <a:prstGeom prst="rect">
            <a:avLst/>
          </a:prstGeom>
          <a:noFill/>
          <a:ln/>
        </p:spPr>
        <p:txBody>
          <a:bodyPr wrap="square" rtlCol="0" anchor="ctr"/>
          <a:lstStyle/>
          <a:p>
            <a:pPr indent="0" marL="0">
              <a:lnSpc>
                <a:spcPct val="112000"/>
              </a:lnSpc>
              <a:buNone/>
            </a:pPr>
            <a:r>
              <a:rPr lang="en-US" sz="1250" dirty="0">
                <a:solidFill>
                  <a:srgbClr val="1C2733"/>
                </a:solidFill>
                <a:latin typeface="Calibri" pitchFamily="34" charset="0"/>
                <a:ea typeface="Calibri" pitchFamily="34" charset="-122"/>
                <a:cs typeface="Calibri" pitchFamily="34" charset="-120"/>
              </a:rPr>
              <a:t>Track Monday performance separately after changes — it's the clearest, most isolated lever to move total weekly viewership.</a:t>
            </a:r>
            <a:endParaRPr lang="en-US" sz="1250" dirty="0"/>
          </a:p>
        </p:txBody>
      </p:sp>
      <p:sp>
        <p:nvSpPr>
          <p:cNvPr id="21" name="Text 19"/>
          <p:cNvSpPr/>
          <p:nvPr/>
        </p:nvSpPr>
        <p:spPr>
          <a:xfrm>
            <a:off x="11430000" y="6473952"/>
            <a:ext cx="640080" cy="274320"/>
          </a:xfrm>
          <a:prstGeom prst="rect">
            <a:avLst/>
          </a:prstGeom>
          <a:noFill/>
          <a:ln/>
        </p:spPr>
        <p:txBody>
          <a:bodyPr wrap="square" rtlCol="0" anchor="ctr"/>
          <a:lstStyle/>
          <a:p>
            <a:pPr algn="r" indent="0" marL="0">
              <a:buNone/>
            </a:pPr>
            <a:r>
              <a:rPr lang="en-US" sz="1000" dirty="0">
                <a:solidFill>
                  <a:srgbClr val="6B7686"/>
                </a:solidFill>
                <a:latin typeface="Calibri" pitchFamily="34" charset="0"/>
                <a:ea typeface="Calibri" pitchFamily="34" charset="-122"/>
                <a:cs typeface="Calibri" pitchFamily="34" charset="-120"/>
              </a:rPr>
              <a:t>10 / 12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BRIGHTTV  ·  VIEWERSHIP CASE STUDY</a:t>
            </a:r>
            <a:endParaRPr lang="en-US" sz="1100" dirty="0"/>
          </a:p>
        </p:txBody>
      </p:sp>
      <p:sp>
        <p:nvSpPr>
          <p:cNvPr id="3" name="Text 1"/>
          <p:cNvSpPr/>
          <p:nvPr/>
        </p:nvSpPr>
        <p:spPr>
          <a:xfrm>
            <a:off x="548640" y="566928"/>
            <a:ext cx="1051560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Initiatives to grow the user base</a:t>
            </a:r>
            <a:endParaRPr lang="en-US" sz="3000" dirty="0"/>
          </a:p>
        </p:txBody>
      </p:sp>
      <p:sp>
        <p:nvSpPr>
          <p:cNvPr id="4" name="Text 2"/>
          <p:cNvSpPr/>
          <p:nvPr/>
        </p:nvSpPr>
        <p:spPr>
          <a:xfrm>
            <a:off x="548640" y="1170432"/>
            <a:ext cx="10789920" cy="365760"/>
          </a:xfrm>
          <a:prstGeom prst="rect">
            <a:avLst/>
          </a:prstGeom>
          <a:noFill/>
          <a:ln/>
        </p:spPr>
        <p:txBody>
          <a:bodyPr wrap="square" rtlCol="0" anchor="ctr"/>
          <a:lstStyle/>
          <a:p>
            <a:pPr indent="0" marL="0">
              <a:buNone/>
            </a:pPr>
            <a:r>
              <a:rPr lang="en-US" sz="1300" i="1" dirty="0">
                <a:solidFill>
                  <a:srgbClr val="6B7686"/>
                </a:solidFill>
                <a:latin typeface="Calibri" pitchFamily="34" charset="0"/>
                <a:ea typeface="Calibri" pitchFamily="34" charset="-122"/>
                <a:cs typeface="Calibri" pitchFamily="34" charset="-120"/>
              </a:rPr>
              <a:t>Recommendations for the CVM team</a:t>
            </a:r>
            <a:endParaRPr lang="en-US" sz="1300" dirty="0"/>
          </a:p>
        </p:txBody>
      </p:sp>
      <p:sp>
        <p:nvSpPr>
          <p:cNvPr id="5" name="Shape 3"/>
          <p:cNvSpPr/>
          <p:nvPr/>
        </p:nvSpPr>
        <p:spPr>
          <a:xfrm>
            <a:off x="548640" y="1783080"/>
            <a:ext cx="3502152" cy="4251960"/>
          </a:xfrm>
          <a:prstGeom prst="roundRect">
            <a:avLst>
              <a:gd name="adj" fmla="val 2089"/>
            </a:avLst>
          </a:prstGeom>
          <a:solidFill>
            <a:srgbClr val="FFFFFF"/>
          </a:solidFill>
          <a:ln w="12700">
            <a:solidFill>
              <a:srgbClr val="E1E5EA"/>
            </a:solidFill>
            <a:prstDash val="solid"/>
          </a:ln>
        </p:spPr>
      </p:sp>
      <p:sp>
        <p:nvSpPr>
          <p:cNvPr id="6" name="Shape 4"/>
          <p:cNvSpPr/>
          <p:nvPr/>
        </p:nvSpPr>
        <p:spPr>
          <a:xfrm>
            <a:off x="777240" y="2039112"/>
            <a:ext cx="411480" cy="411480"/>
          </a:xfrm>
          <a:prstGeom prst="roundRect">
            <a:avLst>
              <a:gd name="adj" fmla="val 100000"/>
            </a:avLst>
          </a:prstGeom>
          <a:solidFill>
            <a:srgbClr val="065A82"/>
          </a:solidFill>
          <a:ln/>
        </p:spPr>
      </p:sp>
      <p:sp>
        <p:nvSpPr>
          <p:cNvPr id="7" name="Text 5"/>
          <p:cNvSpPr/>
          <p:nvPr/>
        </p:nvSpPr>
        <p:spPr>
          <a:xfrm>
            <a:off x="777240" y="2606040"/>
            <a:ext cx="3044952" cy="548640"/>
          </a:xfrm>
          <a:prstGeom prst="rect">
            <a:avLst/>
          </a:prstGeom>
          <a:noFill/>
          <a:ln/>
        </p:spPr>
        <p:txBody>
          <a:bodyPr wrap="square"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Target acquisition</a:t>
            </a:r>
            <a:endParaRPr lang="en-US" sz="1550" dirty="0"/>
          </a:p>
        </p:txBody>
      </p:sp>
      <p:sp>
        <p:nvSpPr>
          <p:cNvPr id="8" name="Text 6"/>
          <p:cNvSpPr/>
          <p:nvPr/>
        </p:nvSpPr>
        <p:spPr>
          <a:xfrm>
            <a:off x="777240" y="3291840"/>
            <a:ext cx="3044952" cy="1280160"/>
          </a:xfrm>
          <a:prstGeom prst="rect">
            <a:avLst/>
          </a:prstGeom>
          <a:noFill/>
          <a:ln/>
        </p:spPr>
        <p:txBody>
          <a:bodyPr wrap="square" rtlCol="0" anchor="t"/>
          <a:lstStyle/>
          <a:p>
            <a:pPr marL="342900" indent="-342900">
              <a:lnSpc>
                <a:spcPct val="118000"/>
              </a:lnSpc>
              <a:buSzPct val="100000"/>
              <a:buChar char="●"/>
            </a:pPr>
            <a:r>
              <a:rPr lang="en-US" sz="1150" dirty="0">
                <a:solidFill>
                  <a:srgbClr val="1C2733"/>
                </a:solidFill>
                <a:latin typeface="Calibri" pitchFamily="34" charset="0"/>
                <a:ea typeface="Calibri" pitchFamily="34" charset="-122"/>
                <a:cs typeface="Calibri" pitchFamily="34" charset="-120"/>
              </a:rPr>
              <a:t>Lookalike-target the Youth (20-35), male, Gauteng / Western Cape profile for new-subscriber campaigns.</a:t>
            </a:r>
            <a:endParaRPr lang="en-US" sz="1150" dirty="0"/>
          </a:p>
        </p:txBody>
      </p:sp>
      <p:sp>
        <p:nvSpPr>
          <p:cNvPr id="9" name="Text 7"/>
          <p:cNvSpPr/>
          <p:nvPr/>
        </p:nvSpPr>
        <p:spPr>
          <a:xfrm>
            <a:off x="777240" y="4617720"/>
            <a:ext cx="3044952" cy="1280160"/>
          </a:xfrm>
          <a:prstGeom prst="rect">
            <a:avLst/>
          </a:prstGeom>
          <a:noFill/>
          <a:ln/>
        </p:spPr>
        <p:txBody>
          <a:bodyPr wrap="square" rtlCol="0" anchor="t"/>
          <a:lstStyle/>
          <a:p>
            <a:pPr marL="342900" indent="-342900">
              <a:lnSpc>
                <a:spcPct val="118000"/>
              </a:lnSpc>
              <a:buSzPct val="100000"/>
              <a:buChar char="●"/>
            </a:pPr>
            <a:r>
              <a:rPr lang="en-US" sz="1150" dirty="0">
                <a:solidFill>
                  <a:srgbClr val="1C2733"/>
                </a:solidFill>
                <a:latin typeface="Calibri" pitchFamily="34" charset="0"/>
                <a:ea typeface="Calibri" pitchFamily="34" charset="-122"/>
                <a:cs typeface="Calibri" pitchFamily="34" charset="-120"/>
              </a:rPr>
              <a:t>Test tailored content bundles to grow underrepresented segments — female viewers, older age bands, other provinces.</a:t>
            </a:r>
            <a:endParaRPr lang="en-US" sz="1150" dirty="0"/>
          </a:p>
        </p:txBody>
      </p:sp>
      <p:sp>
        <p:nvSpPr>
          <p:cNvPr id="10" name="Shape 8"/>
          <p:cNvSpPr/>
          <p:nvPr/>
        </p:nvSpPr>
        <p:spPr>
          <a:xfrm>
            <a:off x="4233672" y="1783080"/>
            <a:ext cx="3502152" cy="4251960"/>
          </a:xfrm>
          <a:prstGeom prst="roundRect">
            <a:avLst>
              <a:gd name="adj" fmla="val 2089"/>
            </a:avLst>
          </a:prstGeom>
          <a:solidFill>
            <a:srgbClr val="FFFFFF"/>
          </a:solidFill>
          <a:ln w="12700">
            <a:solidFill>
              <a:srgbClr val="E1E5EA"/>
            </a:solidFill>
            <a:prstDash val="solid"/>
          </a:ln>
        </p:spPr>
      </p:sp>
      <p:sp>
        <p:nvSpPr>
          <p:cNvPr id="11" name="Shape 9"/>
          <p:cNvSpPr/>
          <p:nvPr/>
        </p:nvSpPr>
        <p:spPr>
          <a:xfrm>
            <a:off x="4462272" y="2039112"/>
            <a:ext cx="411480" cy="411480"/>
          </a:xfrm>
          <a:prstGeom prst="roundRect">
            <a:avLst>
              <a:gd name="adj" fmla="val 100000"/>
            </a:avLst>
          </a:prstGeom>
          <a:solidFill>
            <a:srgbClr val="1C7293"/>
          </a:solidFill>
          <a:ln/>
        </p:spPr>
      </p:sp>
      <p:sp>
        <p:nvSpPr>
          <p:cNvPr id="12" name="Text 10"/>
          <p:cNvSpPr/>
          <p:nvPr/>
        </p:nvSpPr>
        <p:spPr>
          <a:xfrm>
            <a:off x="4462272" y="2606040"/>
            <a:ext cx="3044952" cy="548640"/>
          </a:xfrm>
          <a:prstGeom prst="rect">
            <a:avLst/>
          </a:prstGeom>
          <a:noFill/>
          <a:ln/>
        </p:spPr>
        <p:txBody>
          <a:bodyPr wrap="square"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Fix the data foundation</a:t>
            </a:r>
            <a:endParaRPr lang="en-US" sz="1550" dirty="0"/>
          </a:p>
        </p:txBody>
      </p:sp>
      <p:sp>
        <p:nvSpPr>
          <p:cNvPr id="13" name="Text 11"/>
          <p:cNvSpPr/>
          <p:nvPr/>
        </p:nvSpPr>
        <p:spPr>
          <a:xfrm>
            <a:off x="4462272" y="3291840"/>
            <a:ext cx="3044952" cy="1280160"/>
          </a:xfrm>
          <a:prstGeom prst="rect">
            <a:avLst/>
          </a:prstGeom>
          <a:noFill/>
          <a:ln/>
        </p:spPr>
        <p:txBody>
          <a:bodyPr wrap="square" rtlCol="0" anchor="t"/>
          <a:lstStyle/>
          <a:p>
            <a:pPr marL="342900" indent="-342900">
              <a:lnSpc>
                <a:spcPct val="118000"/>
              </a:lnSpc>
              <a:buSzPct val="100000"/>
              <a:buChar char="●"/>
            </a:pPr>
            <a:r>
              <a:rPr lang="en-US" sz="1150" dirty="0">
                <a:solidFill>
                  <a:srgbClr val="1C2733"/>
                </a:solidFill>
                <a:latin typeface="Calibri" pitchFamily="34" charset="0"/>
                <a:ea typeface="Calibri" pitchFamily="34" charset="-122"/>
                <a:cs typeface="Calibri" pitchFamily="34" charset="-120"/>
              </a:rPr>
              <a:t>Correct the email_flag / sm_flag logic — both currently read 1 for every record, so CVM can't yet target by contactability.</a:t>
            </a:r>
            <a:endParaRPr lang="en-US" sz="1150" dirty="0"/>
          </a:p>
        </p:txBody>
      </p:sp>
      <p:sp>
        <p:nvSpPr>
          <p:cNvPr id="14" name="Text 12"/>
          <p:cNvSpPr/>
          <p:nvPr/>
        </p:nvSpPr>
        <p:spPr>
          <a:xfrm>
            <a:off x="4462272" y="4617720"/>
            <a:ext cx="3044952" cy="1280160"/>
          </a:xfrm>
          <a:prstGeom prst="rect">
            <a:avLst/>
          </a:prstGeom>
          <a:noFill/>
          <a:ln/>
        </p:spPr>
        <p:txBody>
          <a:bodyPr wrap="square" rtlCol="0" anchor="t"/>
          <a:lstStyle/>
          <a:p>
            <a:pPr marL="342900" indent="-342900">
              <a:lnSpc>
                <a:spcPct val="118000"/>
              </a:lnSpc>
              <a:buSzPct val="100000"/>
              <a:buChar char="●"/>
            </a:pPr>
            <a:r>
              <a:rPr lang="en-US" sz="1150" dirty="0">
                <a:solidFill>
                  <a:srgbClr val="1C2733"/>
                </a:solidFill>
                <a:latin typeface="Calibri" pitchFamily="34" charset="0"/>
                <a:ea typeface="Calibri" pitchFamily="34" charset="-122"/>
                <a:cs typeface="Calibri" pitchFamily="34" charset="-120"/>
              </a:rPr>
              <a:t>Backfill or re-survey missing Gender, Race, and Region fields to unlock real segment-level targeting.</a:t>
            </a:r>
            <a:endParaRPr lang="en-US" sz="1150" dirty="0"/>
          </a:p>
        </p:txBody>
      </p:sp>
      <p:sp>
        <p:nvSpPr>
          <p:cNvPr id="15" name="Shape 13"/>
          <p:cNvSpPr/>
          <p:nvPr/>
        </p:nvSpPr>
        <p:spPr>
          <a:xfrm>
            <a:off x="7918704" y="1783080"/>
            <a:ext cx="3502152" cy="4251960"/>
          </a:xfrm>
          <a:prstGeom prst="roundRect">
            <a:avLst>
              <a:gd name="adj" fmla="val 2089"/>
            </a:avLst>
          </a:prstGeom>
          <a:solidFill>
            <a:srgbClr val="FFFFFF"/>
          </a:solidFill>
          <a:ln w="12700">
            <a:solidFill>
              <a:srgbClr val="E1E5EA"/>
            </a:solidFill>
            <a:prstDash val="solid"/>
          </a:ln>
        </p:spPr>
      </p:sp>
      <p:sp>
        <p:nvSpPr>
          <p:cNvPr id="16" name="Shape 14"/>
          <p:cNvSpPr/>
          <p:nvPr/>
        </p:nvSpPr>
        <p:spPr>
          <a:xfrm>
            <a:off x="8147304" y="2039112"/>
            <a:ext cx="411480" cy="411480"/>
          </a:xfrm>
          <a:prstGeom prst="roundRect">
            <a:avLst>
              <a:gd name="adj" fmla="val 100000"/>
            </a:avLst>
          </a:prstGeom>
          <a:solidFill>
            <a:srgbClr val="D8724A"/>
          </a:solidFill>
          <a:ln/>
        </p:spPr>
      </p:sp>
      <p:sp>
        <p:nvSpPr>
          <p:cNvPr id="17" name="Text 15"/>
          <p:cNvSpPr/>
          <p:nvPr/>
        </p:nvSpPr>
        <p:spPr>
          <a:xfrm>
            <a:off x="8147304" y="2606040"/>
            <a:ext cx="3044952" cy="548640"/>
          </a:xfrm>
          <a:prstGeom prst="rect">
            <a:avLst/>
          </a:prstGeom>
          <a:noFill/>
          <a:ln/>
        </p:spPr>
        <p:txBody>
          <a:bodyPr wrap="square"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Optimise content &amp; timing</a:t>
            </a:r>
            <a:endParaRPr lang="en-US" sz="1550" dirty="0"/>
          </a:p>
        </p:txBody>
      </p:sp>
      <p:sp>
        <p:nvSpPr>
          <p:cNvPr id="18" name="Text 16"/>
          <p:cNvSpPr/>
          <p:nvPr/>
        </p:nvSpPr>
        <p:spPr>
          <a:xfrm>
            <a:off x="8147304" y="3291840"/>
            <a:ext cx="3044952" cy="1280160"/>
          </a:xfrm>
          <a:prstGeom prst="rect">
            <a:avLst/>
          </a:prstGeom>
          <a:noFill/>
          <a:ln/>
        </p:spPr>
        <p:txBody>
          <a:bodyPr wrap="square" rtlCol="0" anchor="t"/>
          <a:lstStyle/>
          <a:p>
            <a:pPr marL="342900" indent="-342900">
              <a:lnSpc>
                <a:spcPct val="118000"/>
              </a:lnSpc>
              <a:buSzPct val="100000"/>
              <a:buChar char="●"/>
            </a:pPr>
            <a:r>
              <a:rPr lang="en-US" sz="1150" dirty="0">
                <a:solidFill>
                  <a:srgbClr val="1C2733"/>
                </a:solidFill>
                <a:latin typeface="Calibri" pitchFamily="34" charset="0"/>
                <a:ea typeface="Calibri" pitchFamily="34" charset="-122"/>
                <a:cs typeface="Calibri" pitchFamily="34" charset="-120"/>
              </a:rPr>
              <a:t>Double down on live sport and events — highest reach and stickiness of any content type.</a:t>
            </a:r>
            <a:endParaRPr lang="en-US" sz="1150" dirty="0"/>
          </a:p>
        </p:txBody>
      </p:sp>
      <p:sp>
        <p:nvSpPr>
          <p:cNvPr id="19" name="Text 17"/>
          <p:cNvSpPr/>
          <p:nvPr/>
        </p:nvSpPr>
        <p:spPr>
          <a:xfrm>
            <a:off x="8147304" y="4617720"/>
            <a:ext cx="3044952" cy="1280160"/>
          </a:xfrm>
          <a:prstGeom prst="rect">
            <a:avLst/>
          </a:prstGeom>
          <a:noFill/>
          <a:ln/>
        </p:spPr>
        <p:txBody>
          <a:bodyPr wrap="square" rtlCol="0" anchor="t"/>
          <a:lstStyle/>
          <a:p>
            <a:pPr marL="342900" indent="-342900">
              <a:lnSpc>
                <a:spcPct val="118000"/>
              </a:lnSpc>
              <a:buSzPct val="100000"/>
              <a:buChar char="●"/>
            </a:pPr>
            <a:r>
              <a:rPr lang="en-US" sz="1150" dirty="0">
                <a:solidFill>
                  <a:srgbClr val="1C2733"/>
                </a:solidFill>
                <a:latin typeface="Calibri" pitchFamily="34" charset="0"/>
                <a:ea typeface="Calibri" pitchFamily="34" charset="-122"/>
                <a:cs typeface="Calibri" pitchFamily="34" charset="-120"/>
              </a:rPr>
              <a:t>Review long-tail channels (SawSee, M-Net, Vuzu, kykNET, Wimbledon) as refresh or delist candidates.</a:t>
            </a:r>
            <a:endParaRPr lang="en-US" sz="1150" dirty="0"/>
          </a:p>
        </p:txBody>
      </p:sp>
      <p:sp>
        <p:nvSpPr>
          <p:cNvPr id="20" name="Text 18"/>
          <p:cNvSpPr/>
          <p:nvPr/>
        </p:nvSpPr>
        <p:spPr>
          <a:xfrm>
            <a:off x="11430000" y="6473952"/>
            <a:ext cx="640080" cy="274320"/>
          </a:xfrm>
          <a:prstGeom prst="rect">
            <a:avLst/>
          </a:prstGeom>
          <a:noFill/>
          <a:ln/>
        </p:spPr>
        <p:txBody>
          <a:bodyPr wrap="square" rtlCol="0" anchor="ctr"/>
          <a:lstStyle/>
          <a:p>
            <a:pPr algn="r" indent="0" marL="0">
              <a:buNone/>
            </a:pPr>
            <a:r>
              <a:rPr lang="en-US" sz="1000" dirty="0">
                <a:solidFill>
                  <a:srgbClr val="6B7686"/>
                </a:solidFill>
                <a:latin typeface="Calibri" pitchFamily="34" charset="0"/>
                <a:ea typeface="Calibri" pitchFamily="34" charset="-122"/>
                <a:cs typeface="Calibri" pitchFamily="34" charset="-120"/>
              </a:rPr>
              <a:t>11 / 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065A82">
              <a:alpha val="45000"/>
            </a:srgbClr>
          </a:solidFill>
          <a:ln/>
        </p:spPr>
      </p:sp>
      <p:sp>
        <p:nvSpPr>
          <p:cNvPr id="3" name="Shape 1"/>
          <p:cNvSpPr/>
          <p:nvPr/>
        </p:nvSpPr>
        <p:spPr>
          <a:xfrm>
            <a:off x="8686800" y="3657600"/>
            <a:ext cx="5029200" cy="5029200"/>
          </a:xfrm>
          <a:prstGeom prst="ellipse">
            <a:avLst/>
          </a:prstGeom>
          <a:solidFill>
            <a:srgbClr val="1C7293">
              <a:alpha val="35000"/>
            </a:srgbClr>
          </a:solidFill>
          <a:ln/>
        </p:spPr>
      </p:sp>
      <p:sp>
        <p:nvSpPr>
          <p:cNvPr id="4" name="Text 2"/>
          <p:cNvSpPr/>
          <p:nvPr/>
        </p:nvSpPr>
        <p:spPr>
          <a:xfrm>
            <a:off x="822960" y="685800"/>
            <a:ext cx="91440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5" name="Shape 3"/>
          <p:cNvSpPr/>
          <p:nvPr/>
        </p:nvSpPr>
        <p:spPr>
          <a:xfrm>
            <a:off x="822960" y="1645920"/>
            <a:ext cx="365760" cy="365760"/>
          </a:xfrm>
          <a:prstGeom prst="ellipse">
            <a:avLst/>
          </a:prstGeom>
          <a:solidFill>
            <a:srgbClr val="9FC4DE"/>
          </a:solidFill>
          <a:ln/>
        </p:spPr>
      </p:sp>
      <p:sp>
        <p:nvSpPr>
          <p:cNvPr id="6" name="Text 4"/>
          <p:cNvSpPr/>
          <p:nvPr/>
        </p:nvSpPr>
        <p:spPr>
          <a:xfrm>
            <a:off x="822960" y="1645920"/>
            <a:ext cx="365760" cy="365760"/>
          </a:xfrm>
          <a:prstGeom prst="rect">
            <a:avLst/>
          </a:prstGeom>
          <a:noFill/>
          <a:ln/>
        </p:spPr>
        <p:txBody>
          <a:bodyPr wrap="square"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417320" y="1554480"/>
            <a:ext cx="9601200" cy="548640"/>
          </a:xfrm>
          <a:prstGeom prst="rect">
            <a:avLst/>
          </a:prstGeom>
          <a:noFill/>
          <a:ln/>
        </p:spPr>
        <p:txBody>
          <a:bodyPr wrap="square" rtlCol="0" anchor="ctr"/>
          <a:lstStyle/>
          <a:p>
            <a:pPr indent="0" marL="0">
              <a:buNone/>
            </a:pPr>
            <a:r>
              <a:rPr lang="en-US" sz="1450" dirty="0">
                <a:solidFill>
                  <a:srgbClr val="E8EEF5"/>
                </a:solidFill>
                <a:latin typeface="Calibri" pitchFamily="34" charset="0"/>
                <a:ea typeface="Calibri" pitchFamily="34" charset="-122"/>
                <a:cs typeface="Calibri" pitchFamily="34" charset="-120"/>
              </a:rPr>
              <a:t>Growth is real and accelerating — records and hours both roughly doubled from Jan to Mar.</a:t>
            </a:r>
            <a:endParaRPr lang="en-US" sz="1450" dirty="0"/>
          </a:p>
        </p:txBody>
      </p:sp>
      <p:sp>
        <p:nvSpPr>
          <p:cNvPr id="8" name="Shape 6"/>
          <p:cNvSpPr/>
          <p:nvPr/>
        </p:nvSpPr>
        <p:spPr>
          <a:xfrm>
            <a:off x="822960" y="2377440"/>
            <a:ext cx="365760" cy="365760"/>
          </a:xfrm>
          <a:prstGeom prst="ellipse">
            <a:avLst/>
          </a:prstGeom>
          <a:solidFill>
            <a:srgbClr val="9FC4DE"/>
          </a:solidFill>
          <a:ln/>
        </p:spPr>
      </p:sp>
      <p:sp>
        <p:nvSpPr>
          <p:cNvPr id="9" name="Text 7"/>
          <p:cNvSpPr/>
          <p:nvPr/>
        </p:nvSpPr>
        <p:spPr>
          <a:xfrm>
            <a:off x="822960" y="2377440"/>
            <a:ext cx="365760" cy="365760"/>
          </a:xfrm>
          <a:prstGeom prst="rect">
            <a:avLst/>
          </a:prstGeom>
          <a:noFill/>
          <a:ln/>
        </p:spPr>
        <p:txBody>
          <a:bodyPr wrap="square"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417320" y="2286000"/>
            <a:ext cx="9601200" cy="548640"/>
          </a:xfrm>
          <a:prstGeom prst="rect">
            <a:avLst/>
          </a:prstGeom>
          <a:noFill/>
          <a:ln/>
        </p:spPr>
        <p:txBody>
          <a:bodyPr wrap="square" rtlCol="0" anchor="ctr"/>
          <a:lstStyle/>
          <a:p>
            <a:pPr indent="0" marL="0">
              <a:buNone/>
            </a:pPr>
            <a:r>
              <a:rPr lang="en-US" sz="1450" dirty="0">
                <a:solidFill>
                  <a:srgbClr val="E8EEF5"/>
                </a:solidFill>
                <a:latin typeface="Calibri" pitchFamily="34" charset="0"/>
                <a:ea typeface="Calibri" pitchFamily="34" charset="-122"/>
                <a:cs typeface="Calibri" pitchFamily="34" charset="-120"/>
              </a:rPr>
              <a:t>Live sport and events are the engagement engine — highest reach and longest sessions.</a:t>
            </a:r>
            <a:endParaRPr lang="en-US" sz="1450" dirty="0"/>
          </a:p>
        </p:txBody>
      </p:sp>
      <p:sp>
        <p:nvSpPr>
          <p:cNvPr id="11" name="Shape 9"/>
          <p:cNvSpPr/>
          <p:nvPr/>
        </p:nvSpPr>
        <p:spPr>
          <a:xfrm>
            <a:off x="822960" y="3108960"/>
            <a:ext cx="365760" cy="365760"/>
          </a:xfrm>
          <a:prstGeom prst="ellipse">
            <a:avLst/>
          </a:prstGeom>
          <a:solidFill>
            <a:srgbClr val="9FC4DE"/>
          </a:solidFill>
          <a:ln/>
        </p:spPr>
      </p:sp>
      <p:sp>
        <p:nvSpPr>
          <p:cNvPr id="12" name="Text 10"/>
          <p:cNvSpPr/>
          <p:nvPr/>
        </p:nvSpPr>
        <p:spPr>
          <a:xfrm>
            <a:off x="822960" y="3108960"/>
            <a:ext cx="365760" cy="365760"/>
          </a:xfrm>
          <a:prstGeom prst="rect">
            <a:avLst/>
          </a:prstGeom>
          <a:noFill/>
          <a:ln/>
        </p:spPr>
        <p:txBody>
          <a:bodyPr wrap="square"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417320" y="3017520"/>
            <a:ext cx="9601200" cy="548640"/>
          </a:xfrm>
          <a:prstGeom prst="rect">
            <a:avLst/>
          </a:prstGeom>
          <a:noFill/>
          <a:ln/>
        </p:spPr>
        <p:txBody>
          <a:bodyPr wrap="square" rtlCol="0" anchor="ctr"/>
          <a:lstStyle/>
          <a:p>
            <a:pPr indent="0" marL="0">
              <a:buNone/>
            </a:pPr>
            <a:r>
              <a:rPr lang="en-US" sz="1450" dirty="0">
                <a:solidFill>
                  <a:srgbClr val="E8EEF5"/>
                </a:solidFill>
                <a:latin typeface="Calibri" pitchFamily="34" charset="0"/>
                <a:ea typeface="Calibri" pitchFamily="34" charset="-122"/>
                <a:cs typeface="Calibri" pitchFamily="34" charset="-120"/>
              </a:rPr>
              <a:t>Monday is the clearest, most isolated opportunity to lift total weekly viewership.</a:t>
            </a:r>
            <a:endParaRPr lang="en-US" sz="1450" dirty="0"/>
          </a:p>
        </p:txBody>
      </p:sp>
      <p:sp>
        <p:nvSpPr>
          <p:cNvPr id="14" name="Shape 12"/>
          <p:cNvSpPr/>
          <p:nvPr/>
        </p:nvSpPr>
        <p:spPr>
          <a:xfrm>
            <a:off x="822960" y="3840480"/>
            <a:ext cx="365760" cy="365760"/>
          </a:xfrm>
          <a:prstGeom prst="ellipse">
            <a:avLst/>
          </a:prstGeom>
          <a:solidFill>
            <a:srgbClr val="9FC4DE"/>
          </a:solidFill>
          <a:ln/>
        </p:spPr>
      </p:sp>
      <p:sp>
        <p:nvSpPr>
          <p:cNvPr id="15" name="Text 13"/>
          <p:cNvSpPr/>
          <p:nvPr/>
        </p:nvSpPr>
        <p:spPr>
          <a:xfrm>
            <a:off x="822960" y="3840480"/>
            <a:ext cx="365760" cy="365760"/>
          </a:xfrm>
          <a:prstGeom prst="rect">
            <a:avLst/>
          </a:prstGeom>
          <a:noFill/>
          <a:ln/>
        </p:spPr>
        <p:txBody>
          <a:bodyPr wrap="square"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4</a:t>
            </a:r>
            <a:endParaRPr lang="en-US" sz="1300" dirty="0"/>
          </a:p>
        </p:txBody>
      </p:sp>
      <p:sp>
        <p:nvSpPr>
          <p:cNvPr id="16" name="Text 14"/>
          <p:cNvSpPr/>
          <p:nvPr/>
        </p:nvSpPr>
        <p:spPr>
          <a:xfrm>
            <a:off x="1417320" y="3749040"/>
            <a:ext cx="9601200" cy="548640"/>
          </a:xfrm>
          <a:prstGeom prst="rect">
            <a:avLst/>
          </a:prstGeom>
          <a:noFill/>
          <a:ln/>
        </p:spPr>
        <p:txBody>
          <a:bodyPr wrap="square" rtlCol="0" anchor="ctr"/>
          <a:lstStyle/>
          <a:p>
            <a:pPr indent="0" marL="0">
              <a:buNone/>
            </a:pPr>
            <a:r>
              <a:rPr lang="en-US" sz="1450" dirty="0">
                <a:solidFill>
                  <a:srgbClr val="E8EEF5"/>
                </a:solidFill>
                <a:latin typeface="Calibri" pitchFamily="34" charset="0"/>
                <a:ea typeface="Calibri" pitchFamily="34" charset="-122"/>
                <a:cs typeface="Calibri" pitchFamily="34" charset="-120"/>
              </a:rPr>
              <a:t>Fixing contactability flags and missing demographics is the prerequisite for precision targeting.</a:t>
            </a:r>
            <a:endParaRPr lang="en-US" sz="1450" dirty="0"/>
          </a:p>
        </p:txBody>
      </p:sp>
      <p:sp>
        <p:nvSpPr>
          <p:cNvPr id="17" name="Text 15"/>
          <p:cNvSpPr/>
          <p:nvPr/>
        </p:nvSpPr>
        <p:spPr>
          <a:xfrm>
            <a:off x="822960" y="5623560"/>
            <a:ext cx="7315200" cy="54864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Thank you</a:t>
            </a:r>
            <a:endParaRPr lang="en-US" sz="2200" dirty="0"/>
          </a:p>
        </p:txBody>
      </p:sp>
      <p:sp>
        <p:nvSpPr>
          <p:cNvPr id="18" name="Text 16"/>
          <p:cNvSpPr/>
          <p:nvPr/>
        </p:nvSpPr>
        <p:spPr>
          <a:xfrm>
            <a:off x="822960" y="6172200"/>
            <a:ext cx="7315200" cy="365760"/>
          </a:xfrm>
          <a:prstGeom prst="rect">
            <a:avLst/>
          </a:prstGeom>
          <a:noFill/>
          <a:ln/>
        </p:spPr>
        <p:txBody>
          <a:bodyPr wrap="square" rtlCol="0" anchor="ctr"/>
          <a:lstStyle/>
          <a:p>
            <a:pPr indent="0" marL="0">
              <a:buNone/>
            </a:pPr>
            <a:r>
              <a:rPr lang="en-US" sz="1200" i="1" dirty="0">
                <a:solidFill>
                  <a:srgbClr val="9FC4DE"/>
                </a:solidFill>
                <a:latin typeface="Calibri" pitchFamily="34" charset="0"/>
                <a:ea typeface="Calibri" pitchFamily="34" charset="-122"/>
                <a:cs typeface="Calibri" pitchFamily="34" charset="-120"/>
              </a:rPr>
              <a:t>Questions welcome — BrightTV CVM Analytics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2026-07-29T18:36:58Z</dcterms:created>
  <dcterms:modified xsi:type="dcterms:W3CDTF">2026-07-29T18:36:58Z</dcterms:modified>
</cp:coreProperties>
</file>